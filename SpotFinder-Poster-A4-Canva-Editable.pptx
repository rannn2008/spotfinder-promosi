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071016"/>
          </a:solidFill>
          <a:ln w="12700">
            <a:solidFill>
              <a:srgbClr val="0710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34440" y="-1097280"/>
            <a:ext cx="3566160" cy="3566160"/>
          </a:xfrm>
          <a:prstGeom prst="arc">
            <a:avLst/>
          </a:prstGeom>
          <a:solidFill>
            <a:srgbClr val="35D0FF">
              <a:alpha val="26000"/>
            </a:srgbClr>
          </a:solidFill>
          <a:ln w="12700">
            <a:solidFill>
              <a:srgbClr val="35D0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0" y="7863840"/>
            <a:ext cx="3383280" cy="3383280"/>
          </a:xfrm>
          <a:prstGeom prst="arc">
            <a:avLst/>
          </a:prstGeom>
          <a:solidFill>
            <a:srgbClr val="77E08F">
              <a:alpha val="18000"/>
            </a:srgbClr>
          </a:solidFill>
          <a:ln w="12700">
            <a:solidFill>
              <a:srgbClr val="77E08F">
                <a:alpha val="0"/>
              </a:srgbClr>
            </a:solidFill>
            <a:prstDash val="solid"/>
          </a:ln>
        </p:spPr>
      </p:sp>
      <p:pic>
        <p:nvPicPr>
          <p:cNvPr id="5" name="Image 0" descr="C:\xampp\htdocs\spotfinder-promo\assets\img\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47472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" y="429768"/>
            <a:ext cx="21945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EF7F4"/>
                </a:solidFill>
              </a:rPr>
              <a:t>SPOTFINDER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892040" y="393192"/>
            <a:ext cx="2057400" cy="274320"/>
          </a:xfrm>
          <a:prstGeom prst="roundRect">
            <a:avLst>
              <a:gd name="adj" fmla="val 40000"/>
            </a:avLst>
          </a:prstGeom>
          <a:solidFill>
            <a:srgbClr val="77E08F"/>
          </a:solidFill>
          <a:ln w="12700">
            <a:solidFill>
              <a:srgbClr val="77E08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92040" y="461772"/>
            <a:ext cx="20574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71016"/>
                </a:solidFill>
              </a:rPr>
              <a:t>PROTOTYPE SMART PARKING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411480" y="987552"/>
            <a:ext cx="66751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EEF7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 Parkir Cerdas Berbasis IoT, Web, dan AI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438912" y="1737360"/>
            <a:ext cx="6263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D8E9ED"/>
                </a:solidFill>
              </a:rPr>
              <a:t>Membantu pengguna menemukan slot parkir lebih cepat dan membantu pengelola memantau parkir secara real-time.</a:t>
            </a:r>
            <a:endParaRPr lang="en-US" sz="1060" dirty="0"/>
          </a:p>
        </p:txBody>
      </p:sp>
      <p:sp>
        <p:nvSpPr>
          <p:cNvPr id="11" name="Shape 8"/>
          <p:cNvSpPr/>
          <p:nvPr/>
        </p:nvSpPr>
        <p:spPr>
          <a:xfrm>
            <a:off x="438912" y="2148840"/>
            <a:ext cx="6675120" cy="1874520"/>
          </a:xfrm>
          <a:prstGeom prst="roundRect">
            <a:avLst>
              <a:gd name="adj" fmla="val 3415"/>
            </a:avLst>
          </a:prstGeom>
          <a:solidFill>
            <a:srgbClr val="0B1922"/>
          </a:solidFill>
          <a:ln w="12700">
            <a:solidFill>
              <a:srgbClr val="335263"/>
            </a:solidFill>
            <a:prstDash val="solid"/>
          </a:ln>
        </p:spPr>
      </p:sp>
      <p:pic>
        <p:nvPicPr>
          <p:cNvPr id="12" name="Image 1" descr="C:\xampp\htdocs\spotfinder-promo\assets\img\h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267712"/>
            <a:ext cx="1965960" cy="1600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43200" y="2350008"/>
            <a:ext cx="393192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5D0FF"/>
                </a:solidFill>
              </a:rPr>
              <a:t>Apa itu SpotFinder?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743200" y="2697480"/>
            <a:ext cx="397764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B8C8D0"/>
                </a:solidFill>
              </a:rPr>
              <a:t>SpotFinder adalah miniatur sistem parkir modern. Kendaraan masuk memakai RFID, slot dibaca sensor ultrasonik, palang bergerak otomatis, dan status parkir tampil di dashboard web.</a:t>
            </a:r>
            <a:endParaRPr lang="en-US" sz="1010" dirty="0"/>
          </a:p>
        </p:txBody>
      </p:sp>
      <p:sp>
        <p:nvSpPr>
          <p:cNvPr id="15" name="Shape 11"/>
          <p:cNvSpPr/>
          <p:nvPr/>
        </p:nvSpPr>
        <p:spPr>
          <a:xfrm>
            <a:off x="2743200" y="3584448"/>
            <a:ext cx="777240" cy="274320"/>
          </a:xfrm>
          <a:prstGeom prst="roundRect">
            <a:avLst>
              <a:gd name="adj" fmla="val 40000"/>
            </a:avLst>
          </a:prstGeom>
          <a:solidFill>
            <a:srgbClr val="35D0FF"/>
          </a:solidFill>
          <a:ln w="12700">
            <a:solidFill>
              <a:srgbClr val="35D0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743200" y="3653028"/>
            <a:ext cx="7772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71016"/>
                </a:solidFill>
              </a:rPr>
              <a:t>RFID</a:t>
            </a:r>
            <a:endParaRPr lang="en-US" sz="830" dirty="0"/>
          </a:p>
        </p:txBody>
      </p:sp>
      <p:sp>
        <p:nvSpPr>
          <p:cNvPr id="17" name="Shape 13"/>
          <p:cNvSpPr/>
          <p:nvPr/>
        </p:nvSpPr>
        <p:spPr>
          <a:xfrm>
            <a:off x="3657600" y="3584448"/>
            <a:ext cx="868680" cy="274320"/>
          </a:xfrm>
          <a:prstGeom prst="roundRect">
            <a:avLst>
              <a:gd name="adj" fmla="val 40000"/>
            </a:avLst>
          </a:prstGeom>
          <a:solidFill>
            <a:srgbClr val="77E08F"/>
          </a:solidFill>
          <a:ln w="12700">
            <a:solidFill>
              <a:srgbClr val="77E08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657600" y="3653028"/>
            <a:ext cx="86868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71016"/>
                </a:solidFill>
              </a:rPr>
              <a:t>ESP32</a:t>
            </a:r>
            <a:endParaRPr lang="en-US" sz="830" dirty="0"/>
          </a:p>
        </p:txBody>
      </p:sp>
      <p:sp>
        <p:nvSpPr>
          <p:cNvPr id="19" name="Shape 15"/>
          <p:cNvSpPr/>
          <p:nvPr/>
        </p:nvSpPr>
        <p:spPr>
          <a:xfrm>
            <a:off x="4663440" y="3584448"/>
            <a:ext cx="1143000" cy="274320"/>
          </a:xfrm>
          <a:prstGeom prst="roundRect">
            <a:avLst>
              <a:gd name="adj" fmla="val 40000"/>
            </a:avLst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663440" y="3653028"/>
            <a:ext cx="11430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71016"/>
                </a:solidFill>
              </a:rPr>
              <a:t>Dashboard</a:t>
            </a:r>
            <a:endParaRPr lang="en-US" sz="830" dirty="0"/>
          </a:p>
        </p:txBody>
      </p:sp>
      <p:sp>
        <p:nvSpPr>
          <p:cNvPr id="21" name="Shape 17"/>
          <p:cNvSpPr/>
          <p:nvPr/>
        </p:nvSpPr>
        <p:spPr>
          <a:xfrm>
            <a:off x="5943600" y="3584448"/>
            <a:ext cx="914400" cy="274320"/>
          </a:xfrm>
          <a:prstGeom prst="roundRect">
            <a:avLst>
              <a:gd name="adj" fmla="val 40000"/>
            </a:avLst>
          </a:prstGeom>
          <a:solidFill>
            <a:srgbClr val="FFA640"/>
          </a:solidFill>
          <a:ln w="12700">
            <a:solidFill>
              <a:srgbClr val="FFA64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943600" y="3653028"/>
            <a:ext cx="9144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71016"/>
                </a:solidFill>
              </a:rPr>
              <a:t>AI Voice</a:t>
            </a:r>
            <a:endParaRPr lang="en-US" sz="830" dirty="0"/>
          </a:p>
        </p:txBody>
      </p:sp>
      <p:sp>
        <p:nvSpPr>
          <p:cNvPr id="23" name="Shape 19"/>
          <p:cNvSpPr/>
          <p:nvPr/>
        </p:nvSpPr>
        <p:spPr>
          <a:xfrm>
            <a:off x="438912" y="4315968"/>
            <a:ext cx="2057400" cy="1298448"/>
          </a:xfrm>
          <a:prstGeom prst="roundRect">
            <a:avLst>
              <a:gd name="adj" fmla="val 3521"/>
            </a:avLst>
          </a:prstGeom>
          <a:solidFill>
            <a:srgbClr val="10222D">
              <a:alpha val="98000"/>
            </a:srgbClr>
          </a:solidFill>
          <a:ln w="12700">
            <a:solidFill>
              <a:srgbClr val="335263">
                <a:alpha val="9500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38912" y="4315968"/>
            <a:ext cx="50292" cy="1298448"/>
          </a:xfrm>
          <a:prstGeom prst="rect">
            <a:avLst/>
          </a:prstGeom>
          <a:solidFill>
            <a:srgbClr val="FF7A7A"/>
          </a:solidFill>
          <a:ln w="12700">
            <a:solidFill>
              <a:srgbClr val="FF7A7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85216" y="4434840"/>
            <a:ext cx="180136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EF7F4"/>
                </a:solidFill>
              </a:rPr>
              <a:t>Masalah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585216" y="4736592"/>
            <a:ext cx="1801368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B8C8D0"/>
                </a:solidFill>
              </a:rPr>
              <a:t>Parkir manual membuat pengguna lama mencari slot, data kendaraan kurang rapi, dan pengelola sulit memantau kapasitas.</a:t>
            </a:r>
            <a:endParaRPr lang="en-US" sz="810" dirty="0"/>
          </a:p>
        </p:txBody>
      </p:sp>
      <p:sp>
        <p:nvSpPr>
          <p:cNvPr id="27" name="Shape 23"/>
          <p:cNvSpPr/>
          <p:nvPr/>
        </p:nvSpPr>
        <p:spPr>
          <a:xfrm>
            <a:off x="2761488" y="4315968"/>
            <a:ext cx="2057400" cy="1298448"/>
          </a:xfrm>
          <a:prstGeom prst="roundRect">
            <a:avLst>
              <a:gd name="adj" fmla="val 3521"/>
            </a:avLst>
          </a:prstGeom>
          <a:solidFill>
            <a:srgbClr val="10222D">
              <a:alpha val="98000"/>
            </a:srgbClr>
          </a:solidFill>
          <a:ln w="12700">
            <a:solidFill>
              <a:srgbClr val="335263">
                <a:alpha val="9500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2761488" y="4315968"/>
            <a:ext cx="50292" cy="1298448"/>
          </a:xfrm>
          <a:prstGeom prst="rect">
            <a:avLst/>
          </a:prstGeom>
          <a:solidFill>
            <a:srgbClr val="77E08F"/>
          </a:solidFill>
          <a:ln w="12700">
            <a:solidFill>
              <a:srgbClr val="77E08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907792" y="4434840"/>
            <a:ext cx="180136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EF7F4"/>
                </a:solidFill>
              </a:rPr>
              <a:t>Solusi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2907792" y="4736592"/>
            <a:ext cx="1801368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B8C8D0"/>
                </a:solidFill>
              </a:rPr>
              <a:t>SpotFinder menampilkan slot real-time, mengatur akses RFID, mencatat transaksi, dan memberi kontrol admin.</a:t>
            </a:r>
            <a:endParaRPr lang="en-US" sz="810" dirty="0"/>
          </a:p>
        </p:txBody>
      </p:sp>
      <p:sp>
        <p:nvSpPr>
          <p:cNvPr id="31" name="Shape 27"/>
          <p:cNvSpPr/>
          <p:nvPr/>
        </p:nvSpPr>
        <p:spPr>
          <a:xfrm>
            <a:off x="5084064" y="4315968"/>
            <a:ext cx="2029968" cy="1298448"/>
          </a:xfrm>
          <a:prstGeom prst="roundRect">
            <a:avLst>
              <a:gd name="adj" fmla="val 3521"/>
            </a:avLst>
          </a:prstGeom>
          <a:solidFill>
            <a:srgbClr val="10222D">
              <a:alpha val="98000"/>
            </a:srgbClr>
          </a:solidFill>
          <a:ln w="12700">
            <a:solidFill>
              <a:srgbClr val="335263">
                <a:alpha val="95000"/>
              </a:srgbClr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084064" y="4315968"/>
            <a:ext cx="50292" cy="1298448"/>
          </a:xfrm>
          <a:prstGeom prst="rect">
            <a:avLst/>
          </a:prstGeom>
          <a:solidFill>
            <a:srgbClr val="35D0FF"/>
          </a:solidFill>
          <a:ln w="12700">
            <a:solidFill>
              <a:srgbClr val="35D0F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230368" y="4434840"/>
            <a:ext cx="177393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EF7F4"/>
                </a:solidFill>
              </a:rPr>
              <a:t>Status Project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5230368" y="4736592"/>
            <a:ext cx="177393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B8C8D0"/>
                </a:solidFill>
              </a:rPr>
              <a:t>Prototype miniatur untuk membuktikan konsep. Sistem dapat dikembangkan ke implementasi nyata.</a:t>
            </a:r>
            <a:endParaRPr lang="en-US" sz="810" dirty="0"/>
          </a:p>
        </p:txBody>
      </p:sp>
      <p:sp>
        <p:nvSpPr>
          <p:cNvPr id="35" name="Text 31"/>
          <p:cNvSpPr/>
          <p:nvPr/>
        </p:nvSpPr>
        <p:spPr>
          <a:xfrm>
            <a:off x="457200" y="5897880"/>
            <a:ext cx="29260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EEF7F4"/>
                </a:solidFill>
              </a:rPr>
              <a:t>Cara Kerja Singkat</a:t>
            </a:r>
            <a:endParaRPr lang="en-US" sz="1450" dirty="0"/>
          </a:p>
        </p:txBody>
      </p:sp>
      <p:sp>
        <p:nvSpPr>
          <p:cNvPr id="36" name="Shape 32"/>
          <p:cNvSpPr/>
          <p:nvPr/>
        </p:nvSpPr>
        <p:spPr>
          <a:xfrm>
            <a:off x="438912" y="6245352"/>
            <a:ext cx="6675120" cy="1444752"/>
          </a:xfrm>
          <a:prstGeom prst="roundRect">
            <a:avLst>
              <a:gd name="adj" fmla="val 3165"/>
            </a:avLst>
          </a:prstGeom>
          <a:solidFill>
            <a:srgbClr val="0B1922"/>
          </a:solidFill>
          <a:ln w="12700">
            <a:solidFill>
              <a:srgbClr val="335263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685800" y="6519672"/>
            <a:ext cx="310896" cy="310896"/>
          </a:xfrm>
          <a:prstGeom prst="ellipse">
            <a:avLst/>
          </a:prstGeom>
          <a:solidFill>
            <a:srgbClr val="35D0FF"/>
          </a:solidFill>
          <a:ln w="12700">
            <a:solidFill>
              <a:srgbClr val="35D0FF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85800" y="6606540"/>
            <a:ext cx="310896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016"/>
                </a:solidFill>
              </a:rPr>
              <a:t>1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1097280" y="6473952"/>
            <a:ext cx="1371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EEF7F4"/>
                </a:solidFill>
              </a:rPr>
              <a:t>Login / Daftar</a:t>
            </a:r>
            <a:endParaRPr lang="en-US" sz="940" dirty="0"/>
          </a:p>
        </p:txBody>
      </p:sp>
      <p:sp>
        <p:nvSpPr>
          <p:cNvPr id="40" name="Text 36"/>
          <p:cNvSpPr/>
          <p:nvPr/>
        </p:nvSpPr>
        <p:spPr>
          <a:xfrm>
            <a:off x="1097280" y="6684264"/>
            <a:ext cx="137160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8C8D0"/>
                </a:solidFill>
              </a:rPr>
              <a:t>Pengguna masuk ke portal client.</a:t>
            </a:r>
            <a:endParaRPr lang="en-US" sz="780" dirty="0"/>
          </a:p>
        </p:txBody>
      </p:sp>
      <p:sp>
        <p:nvSpPr>
          <p:cNvPr id="41" name="Shape 37"/>
          <p:cNvSpPr/>
          <p:nvPr/>
        </p:nvSpPr>
        <p:spPr>
          <a:xfrm>
            <a:off x="2514600" y="6519672"/>
            <a:ext cx="310896" cy="310896"/>
          </a:xfrm>
          <a:prstGeom prst="ellipse">
            <a:avLst/>
          </a:prstGeom>
          <a:solidFill>
            <a:srgbClr val="77E08F"/>
          </a:solidFill>
          <a:ln w="12700">
            <a:solidFill>
              <a:srgbClr val="77E08F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14600" y="6606540"/>
            <a:ext cx="310896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016"/>
                </a:solidFill>
              </a:rPr>
              <a:t>2</a:t>
            </a:r>
            <a:endParaRPr lang="en-US" sz="850" dirty="0"/>
          </a:p>
        </p:txBody>
      </p:sp>
      <p:sp>
        <p:nvSpPr>
          <p:cNvPr id="43" name="Text 39"/>
          <p:cNvSpPr/>
          <p:nvPr/>
        </p:nvSpPr>
        <p:spPr>
          <a:xfrm>
            <a:off x="2926080" y="6473952"/>
            <a:ext cx="13258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EEF7F4"/>
                </a:solidFill>
              </a:rPr>
              <a:t>Scan RFID</a:t>
            </a:r>
            <a:endParaRPr lang="en-US" sz="940" dirty="0"/>
          </a:p>
        </p:txBody>
      </p:sp>
      <p:sp>
        <p:nvSpPr>
          <p:cNvPr id="44" name="Text 40"/>
          <p:cNvSpPr/>
          <p:nvPr/>
        </p:nvSpPr>
        <p:spPr>
          <a:xfrm>
            <a:off x="2926080" y="6684264"/>
            <a:ext cx="132588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8C8D0"/>
                </a:solidFill>
              </a:rPr>
              <a:t>Server mengecek akses kendaraan.</a:t>
            </a:r>
            <a:endParaRPr lang="en-US" sz="780" dirty="0"/>
          </a:p>
        </p:txBody>
      </p:sp>
      <p:sp>
        <p:nvSpPr>
          <p:cNvPr id="45" name="Shape 41"/>
          <p:cNvSpPr/>
          <p:nvPr/>
        </p:nvSpPr>
        <p:spPr>
          <a:xfrm>
            <a:off x="4279392" y="6519672"/>
            <a:ext cx="310896" cy="310896"/>
          </a:xfrm>
          <a:prstGeom prst="ellipse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4279392" y="6606540"/>
            <a:ext cx="310896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016"/>
                </a:solidFill>
              </a:rPr>
              <a:t>3</a:t>
            </a:r>
            <a:endParaRPr lang="en-US" sz="850" dirty="0"/>
          </a:p>
        </p:txBody>
      </p:sp>
      <p:sp>
        <p:nvSpPr>
          <p:cNvPr id="47" name="Text 43"/>
          <p:cNvSpPr/>
          <p:nvPr/>
        </p:nvSpPr>
        <p:spPr>
          <a:xfrm>
            <a:off x="4690872" y="6473952"/>
            <a:ext cx="1600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EEF7F4"/>
                </a:solidFill>
              </a:rPr>
              <a:t>Sensor Slot</a:t>
            </a:r>
            <a:endParaRPr lang="en-US" sz="940" dirty="0"/>
          </a:p>
        </p:txBody>
      </p:sp>
      <p:sp>
        <p:nvSpPr>
          <p:cNvPr id="48" name="Text 44"/>
          <p:cNvSpPr/>
          <p:nvPr/>
        </p:nvSpPr>
        <p:spPr>
          <a:xfrm>
            <a:off x="4690872" y="6684264"/>
            <a:ext cx="160020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8C8D0"/>
                </a:solidFill>
              </a:rPr>
              <a:t>Ultrasonik membaca slot terisi/kosong.</a:t>
            </a:r>
            <a:endParaRPr lang="en-US" sz="780" dirty="0"/>
          </a:p>
        </p:txBody>
      </p:sp>
      <p:sp>
        <p:nvSpPr>
          <p:cNvPr id="49" name="Shape 45"/>
          <p:cNvSpPr/>
          <p:nvPr/>
        </p:nvSpPr>
        <p:spPr>
          <a:xfrm>
            <a:off x="685800" y="7141464"/>
            <a:ext cx="310896" cy="310896"/>
          </a:xfrm>
          <a:prstGeom prst="ellipse">
            <a:avLst/>
          </a:prstGeom>
          <a:solidFill>
            <a:srgbClr val="FFA640"/>
          </a:solidFill>
          <a:ln w="12700">
            <a:solidFill>
              <a:srgbClr val="FFA640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685800" y="7228332"/>
            <a:ext cx="310896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016"/>
                </a:solidFill>
              </a:rPr>
              <a:t>4</a:t>
            </a:r>
            <a:endParaRPr lang="en-US" sz="850" dirty="0"/>
          </a:p>
        </p:txBody>
      </p:sp>
      <p:sp>
        <p:nvSpPr>
          <p:cNvPr id="51" name="Text 47"/>
          <p:cNvSpPr/>
          <p:nvPr/>
        </p:nvSpPr>
        <p:spPr>
          <a:xfrm>
            <a:off x="1097280" y="7095744"/>
            <a:ext cx="16459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EEF7F4"/>
                </a:solidFill>
              </a:rPr>
              <a:t>Bayar &amp; Keluar</a:t>
            </a:r>
            <a:endParaRPr lang="en-US" sz="940" dirty="0"/>
          </a:p>
        </p:txBody>
      </p:sp>
      <p:sp>
        <p:nvSpPr>
          <p:cNvPr id="52" name="Text 48"/>
          <p:cNvSpPr/>
          <p:nvPr/>
        </p:nvSpPr>
        <p:spPr>
          <a:xfrm>
            <a:off x="1097280" y="7306056"/>
            <a:ext cx="164592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8C8D0"/>
                </a:solidFill>
              </a:rPr>
              <a:t>Biaya dihitung dan riwayat tersimpan.</a:t>
            </a:r>
            <a:endParaRPr lang="en-US" sz="780" dirty="0"/>
          </a:p>
        </p:txBody>
      </p:sp>
      <p:sp>
        <p:nvSpPr>
          <p:cNvPr id="53" name="Shape 49"/>
          <p:cNvSpPr/>
          <p:nvPr/>
        </p:nvSpPr>
        <p:spPr>
          <a:xfrm>
            <a:off x="3063240" y="7141464"/>
            <a:ext cx="310896" cy="310896"/>
          </a:xfrm>
          <a:prstGeom prst="ellipse">
            <a:avLst/>
          </a:prstGeom>
          <a:solidFill>
            <a:srgbClr val="1798C8"/>
          </a:solidFill>
          <a:ln w="12700">
            <a:solidFill>
              <a:srgbClr val="1798C8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3063240" y="7228332"/>
            <a:ext cx="310896" cy="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016"/>
                </a:solidFill>
              </a:rPr>
              <a:t>5</a:t>
            </a:r>
            <a:endParaRPr lang="en-US" sz="850" dirty="0"/>
          </a:p>
        </p:txBody>
      </p:sp>
      <p:sp>
        <p:nvSpPr>
          <p:cNvPr id="55" name="Text 51"/>
          <p:cNvSpPr/>
          <p:nvPr/>
        </p:nvSpPr>
        <p:spPr>
          <a:xfrm>
            <a:off x="3474720" y="7095744"/>
            <a:ext cx="15087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EEF7F4"/>
                </a:solidFill>
              </a:rPr>
              <a:t>Dashboard</a:t>
            </a:r>
            <a:endParaRPr lang="en-US" sz="940" dirty="0"/>
          </a:p>
        </p:txBody>
      </p:sp>
      <p:sp>
        <p:nvSpPr>
          <p:cNvPr id="56" name="Text 52"/>
          <p:cNvSpPr/>
          <p:nvPr/>
        </p:nvSpPr>
        <p:spPr>
          <a:xfrm>
            <a:off x="3474720" y="7306056"/>
            <a:ext cx="150876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8C8D0"/>
                </a:solidFill>
              </a:rPr>
              <a:t>Admin melihat data real-time.</a:t>
            </a:r>
            <a:endParaRPr lang="en-US" sz="780" dirty="0"/>
          </a:p>
        </p:txBody>
      </p:sp>
      <p:sp>
        <p:nvSpPr>
          <p:cNvPr id="57" name="Text 53"/>
          <p:cNvSpPr/>
          <p:nvPr/>
        </p:nvSpPr>
        <p:spPr>
          <a:xfrm>
            <a:off x="457200" y="7955280"/>
            <a:ext cx="2103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EEF7F4"/>
                </a:solidFill>
              </a:rPr>
              <a:t>Fitur Utama</a:t>
            </a:r>
            <a:endParaRPr lang="en-US" sz="1450" dirty="0"/>
          </a:p>
        </p:txBody>
      </p:sp>
      <p:sp>
        <p:nvSpPr>
          <p:cNvPr id="58" name="Shape 54"/>
          <p:cNvSpPr/>
          <p:nvPr/>
        </p:nvSpPr>
        <p:spPr>
          <a:xfrm>
            <a:off x="438912" y="8275320"/>
            <a:ext cx="1572768" cy="841248"/>
          </a:xfrm>
          <a:prstGeom prst="roundRect">
            <a:avLst>
              <a:gd name="adj" fmla="val 5435"/>
            </a:avLst>
          </a:prstGeom>
          <a:solidFill>
            <a:srgbClr val="10222D">
              <a:alpha val="98000"/>
            </a:srgbClr>
          </a:solidFill>
          <a:ln w="12700">
            <a:solidFill>
              <a:srgbClr val="335263">
                <a:alpha val="95000"/>
              </a:srgbClr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438912" y="8275320"/>
            <a:ext cx="50292" cy="841248"/>
          </a:xfrm>
          <a:prstGeom prst="rect">
            <a:avLst/>
          </a:prstGeom>
          <a:solidFill>
            <a:srgbClr val="35D0FF"/>
          </a:solidFill>
          <a:ln w="12700">
            <a:solidFill>
              <a:srgbClr val="35D0FF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585216" y="8394192"/>
            <a:ext cx="131673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EF7F4"/>
                </a:solidFill>
              </a:rPr>
              <a:t>Client Portal</a:t>
            </a:r>
            <a:endParaRPr lang="en-US" sz="1000" dirty="0"/>
          </a:p>
        </p:txBody>
      </p:sp>
      <p:sp>
        <p:nvSpPr>
          <p:cNvPr id="61" name="Text 57"/>
          <p:cNvSpPr/>
          <p:nvPr/>
        </p:nvSpPr>
        <p:spPr>
          <a:xfrm>
            <a:off x="585216" y="8695944"/>
            <a:ext cx="131673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B8C8D0"/>
                </a:solidFill>
              </a:rPr>
              <a:t>Saldo, booking, riwayat, dan chat.</a:t>
            </a:r>
            <a:endParaRPr lang="en-US" sz="720" dirty="0"/>
          </a:p>
        </p:txBody>
      </p:sp>
      <p:sp>
        <p:nvSpPr>
          <p:cNvPr id="62" name="Shape 58"/>
          <p:cNvSpPr/>
          <p:nvPr/>
        </p:nvSpPr>
        <p:spPr>
          <a:xfrm>
            <a:off x="2121408" y="8275320"/>
            <a:ext cx="1572768" cy="841248"/>
          </a:xfrm>
          <a:prstGeom prst="roundRect">
            <a:avLst>
              <a:gd name="adj" fmla="val 5435"/>
            </a:avLst>
          </a:prstGeom>
          <a:solidFill>
            <a:srgbClr val="10222D">
              <a:alpha val="98000"/>
            </a:srgbClr>
          </a:solidFill>
          <a:ln w="12700">
            <a:solidFill>
              <a:srgbClr val="335263">
                <a:alpha val="95000"/>
              </a:srgbClr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2121408" y="8275320"/>
            <a:ext cx="50292" cy="841248"/>
          </a:xfrm>
          <a:prstGeom prst="rect">
            <a:avLst/>
          </a:prstGeom>
          <a:solidFill>
            <a:srgbClr val="77E08F"/>
          </a:solidFill>
          <a:ln w="12700">
            <a:solidFill>
              <a:srgbClr val="77E08F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2267712" y="8394192"/>
            <a:ext cx="131673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EF7F4"/>
                </a:solidFill>
              </a:rPr>
              <a:t>Admin Panel</a:t>
            </a:r>
            <a:endParaRPr lang="en-US" sz="1000" dirty="0"/>
          </a:p>
        </p:txBody>
      </p:sp>
      <p:sp>
        <p:nvSpPr>
          <p:cNvPr id="65" name="Text 61"/>
          <p:cNvSpPr/>
          <p:nvPr/>
        </p:nvSpPr>
        <p:spPr>
          <a:xfrm>
            <a:off x="2267712" y="8695944"/>
            <a:ext cx="131673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B8C8D0"/>
                </a:solidFill>
              </a:rPr>
              <a:t>User, top-up, gate, analytics.</a:t>
            </a:r>
            <a:endParaRPr lang="en-US" sz="720" dirty="0"/>
          </a:p>
        </p:txBody>
      </p:sp>
      <p:sp>
        <p:nvSpPr>
          <p:cNvPr id="66" name="Shape 62"/>
          <p:cNvSpPr/>
          <p:nvPr/>
        </p:nvSpPr>
        <p:spPr>
          <a:xfrm>
            <a:off x="3803904" y="8275320"/>
            <a:ext cx="1572768" cy="841248"/>
          </a:xfrm>
          <a:prstGeom prst="roundRect">
            <a:avLst>
              <a:gd name="adj" fmla="val 5435"/>
            </a:avLst>
          </a:prstGeom>
          <a:solidFill>
            <a:srgbClr val="10222D">
              <a:alpha val="98000"/>
            </a:srgbClr>
          </a:solidFill>
          <a:ln w="12700">
            <a:solidFill>
              <a:srgbClr val="335263">
                <a:alpha val="95000"/>
              </a:srgbClr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3803904" y="8275320"/>
            <a:ext cx="50292" cy="841248"/>
          </a:xfrm>
          <a:prstGeom prst="rect">
            <a:avLst/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68" name="Text 64"/>
          <p:cNvSpPr/>
          <p:nvPr/>
        </p:nvSpPr>
        <p:spPr>
          <a:xfrm>
            <a:off x="3950208" y="8394192"/>
            <a:ext cx="131673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EF7F4"/>
                </a:solidFill>
              </a:rPr>
              <a:t>AI Voice</a:t>
            </a:r>
            <a:endParaRPr lang="en-US" sz="1000" dirty="0"/>
          </a:p>
        </p:txBody>
      </p:sp>
      <p:sp>
        <p:nvSpPr>
          <p:cNvPr id="69" name="Text 65"/>
          <p:cNvSpPr/>
          <p:nvPr/>
        </p:nvSpPr>
        <p:spPr>
          <a:xfrm>
            <a:off x="3950208" y="8695944"/>
            <a:ext cx="131673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B8C8D0"/>
                </a:solidFill>
              </a:rPr>
              <a:t>Notifikasi suara sistem.</a:t>
            </a:r>
            <a:endParaRPr lang="en-US" sz="720" dirty="0"/>
          </a:p>
        </p:txBody>
      </p:sp>
      <p:sp>
        <p:nvSpPr>
          <p:cNvPr id="70" name="Shape 66"/>
          <p:cNvSpPr/>
          <p:nvPr/>
        </p:nvSpPr>
        <p:spPr>
          <a:xfrm>
            <a:off x="5486400" y="8275320"/>
            <a:ext cx="1627632" cy="841248"/>
          </a:xfrm>
          <a:prstGeom prst="roundRect">
            <a:avLst>
              <a:gd name="adj" fmla="val 5435"/>
            </a:avLst>
          </a:prstGeom>
          <a:solidFill>
            <a:srgbClr val="10222D">
              <a:alpha val="98000"/>
            </a:srgbClr>
          </a:solidFill>
          <a:ln w="12700">
            <a:solidFill>
              <a:srgbClr val="335263">
                <a:alpha val="95000"/>
              </a:srgbClr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5486400" y="8275320"/>
            <a:ext cx="50292" cy="841248"/>
          </a:xfrm>
          <a:prstGeom prst="rect">
            <a:avLst/>
          </a:prstGeom>
          <a:solidFill>
            <a:srgbClr val="FFA640"/>
          </a:solidFill>
          <a:ln w="12700">
            <a:solidFill>
              <a:srgbClr val="FFA640"/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5632704" y="8394192"/>
            <a:ext cx="1371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EF7F4"/>
                </a:solidFill>
              </a:rPr>
              <a:t>Report</a:t>
            </a:r>
            <a:endParaRPr lang="en-US" sz="1000" dirty="0"/>
          </a:p>
        </p:txBody>
      </p:sp>
      <p:sp>
        <p:nvSpPr>
          <p:cNvPr id="73" name="Text 69"/>
          <p:cNvSpPr/>
          <p:nvPr/>
        </p:nvSpPr>
        <p:spPr>
          <a:xfrm>
            <a:off x="5632704" y="8695944"/>
            <a:ext cx="137160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B8C8D0"/>
                </a:solidFill>
              </a:rPr>
              <a:t>Struk dan riwayat transaksi.</a:t>
            </a:r>
            <a:endParaRPr lang="en-US" sz="720" dirty="0"/>
          </a:p>
        </p:txBody>
      </p:sp>
      <p:sp>
        <p:nvSpPr>
          <p:cNvPr id="74" name="Shape 70"/>
          <p:cNvSpPr/>
          <p:nvPr/>
        </p:nvSpPr>
        <p:spPr>
          <a:xfrm>
            <a:off x="438912" y="9345168"/>
            <a:ext cx="6675120" cy="658368"/>
          </a:xfrm>
          <a:prstGeom prst="roundRect">
            <a:avLst>
              <a:gd name="adj" fmla="val 6944"/>
            </a:avLst>
          </a:prstGeom>
          <a:solidFill>
            <a:srgbClr val="0A202B"/>
          </a:solidFill>
          <a:ln w="12700">
            <a:solidFill>
              <a:srgbClr val="335263"/>
            </a:solidFill>
            <a:prstDash val="solid"/>
          </a:ln>
        </p:spPr>
      </p:sp>
      <p:sp>
        <p:nvSpPr>
          <p:cNvPr id="75" name="Text 71"/>
          <p:cNvSpPr/>
          <p:nvPr/>
        </p:nvSpPr>
        <p:spPr>
          <a:xfrm>
            <a:off x="621792" y="9464040"/>
            <a:ext cx="16916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77E08F"/>
                </a:solidFill>
              </a:rPr>
              <a:t>Pengembangan Selanjutnya:</a:t>
            </a:r>
            <a:endParaRPr lang="en-US" sz="880" dirty="0"/>
          </a:p>
        </p:txBody>
      </p:sp>
      <p:sp>
        <p:nvSpPr>
          <p:cNvPr id="76" name="Text 72"/>
          <p:cNvSpPr/>
          <p:nvPr/>
        </p:nvSpPr>
        <p:spPr>
          <a:xfrm>
            <a:off x="2240280" y="9454896"/>
            <a:ext cx="46634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B8C8D0"/>
                </a:solidFill>
              </a:rPr>
              <a:t>QRIS asli, kamera plat nomor, aplikasi mobile, notifikasi WhatsApp, deployment cloud, dan AI chatbot yang lebih pintar.</a:t>
            </a:r>
            <a:endParaRPr lang="en-US" sz="810" dirty="0"/>
          </a:p>
        </p:txBody>
      </p:sp>
      <p:sp>
        <p:nvSpPr>
          <p:cNvPr id="77" name="Shape 73"/>
          <p:cNvSpPr/>
          <p:nvPr/>
        </p:nvSpPr>
        <p:spPr>
          <a:xfrm>
            <a:off x="0" y="10213848"/>
            <a:ext cx="7562088" cy="475488"/>
          </a:xfrm>
          <a:prstGeom prst="rect">
            <a:avLst/>
          </a:prstGeom>
          <a:solidFill>
            <a:srgbClr val="050B0F"/>
          </a:solidFill>
          <a:ln w="12700">
            <a:solidFill>
              <a:srgbClr val="050B0F"/>
            </a:solidFill>
            <a:prstDash val="solid"/>
          </a:ln>
        </p:spPr>
      </p:sp>
      <p:sp>
        <p:nvSpPr>
          <p:cNvPr id="78" name="Text 74"/>
          <p:cNvSpPr/>
          <p:nvPr/>
        </p:nvSpPr>
        <p:spPr>
          <a:xfrm>
            <a:off x="438912" y="10387584"/>
            <a:ext cx="23774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EEF7F4"/>
                </a:solidFill>
              </a:rPr>
              <a:t>Dibuat oleh: Zahran Al Syafit</a:t>
            </a:r>
            <a:endParaRPr lang="en-US" sz="880" dirty="0"/>
          </a:p>
        </p:txBody>
      </p:sp>
      <p:sp>
        <p:nvSpPr>
          <p:cNvPr id="79" name="Text 75"/>
          <p:cNvSpPr/>
          <p:nvPr/>
        </p:nvSpPr>
        <p:spPr>
          <a:xfrm>
            <a:off x="2743200" y="10387584"/>
            <a:ext cx="43891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810" dirty="0">
                <a:solidFill>
                  <a:srgbClr val="B8C8D0"/>
                </a:solidFill>
              </a:rPr>
              <a:t>Estimasi project: ± 6 bulan | Modal prototype: ± Rp 500.000</a:t>
            </a:r>
            <a:endParaRPr lang="en-US" sz="8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SpotFinder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SpotFinder - Poster A4</dc:title>
  <dc:subject>Poster A4 SpotFinder</dc:subject>
  <dc:creator>Zahran Al Syafit</dc:creator>
  <cp:lastModifiedBy>Zahran Al Syafit</cp:lastModifiedBy>
  <cp:revision>1</cp:revision>
  <dcterms:created xsi:type="dcterms:W3CDTF">2026-05-19T03:59:29Z</dcterms:created>
  <dcterms:modified xsi:type="dcterms:W3CDTF">2026-05-19T03:59:29Z</dcterms:modified>
</cp:coreProperties>
</file>