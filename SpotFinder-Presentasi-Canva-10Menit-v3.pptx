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Assalamualaikum, perkenalkan saya Zahran Al Syafit. Saya akan mempresentasikan SpotFinder, sistem parkir cerdas berbasis IoT dan web.
ANIMASI CANVA: Logo: Breathe. Judul: Rise. Gambar hero: Pan/Photo Zoom. Byline: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Latar belakang project ini adalah masalah parkir manual: sulit mencari slot kosong, data tidak real-time, dan pengelolaan masih kurang efisien.
ANIMASI CANVA: Judul: Rise. Bullet masuk satu per satu. Cards: Pop/Stomp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Solusinya adalah SpotFinder: sistem yang memperlihatkan slot real-time, validasi RFID, pembayaran digital, dan dashboard admin.
ANIMASI CANVA: Cards: Fade from bottom satu per satu. Kalimat solusi: Typewriter atau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Cara kerjanya dimulai dari login, cek slot, scan RFID, sensor membaca kendaraan, lalu sistem menghitung biaya saat keluar.
ANIMASI CANVA: Flow cards: Wipe kiri ke kanan. Garis/teks bawah: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Fitur utama yang saya buat meliputi portal client, dashboard admin, RFID, wallet, booking, AI voice, dan laporan.
ANIMASI CANVA: Cards: Pop satu per satu. Gunakan animation delay 0.1 detik antar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Teknologi yang digunakan tidak hanya disebutkan, tetapi juga ada alasannya. PHP dan MySQL untuk web dan database, ESP32 untuk IoT, RFID untuk akses, sensor untuk deteksi, dan AI voice untuk notifikasi.
ANIMASI CANVA: Judul: Rise. Setiap card: Fade. AI card terakhir diberi Pop agar menonjol.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Project ini saya kerjakan sekitar enam bulan. Modalnya sekitar lima ratus ribu rupiah, termasuk komponen, bahan, testing, dan kebutuhan pendukung selama pengerjaan.
ANIMASI CANVA: Dua card utama: Pop. Timeline: Wipe kiri ke kanan atau Rise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Selama pengerjaan ada beberapa kendala, seperti biaya, sensor yang perlu kalibrasi, integrasi ESP32 dengan website, debugging, dan testing berulang.
ANIMASI CANVA: Cards: Fade satu per satu. Card biaya diberi Pop karena menjadi salah satu kendala penting.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Ke depannya, SpotFinder bisa dikembangkan dengan QRIS asli, kamera plat nomor, aplikasi mobile, cloud deployment, notifikasi WhatsApp, dan AI chatbot yang lebih pintar.
ANIMASI CANVA: Cards: Rise berurutan. Untuk QRIS dan AI Chatbot gunakan Pop agar terlihat sebagai highlight.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NARASI: Kesimpulannya, SpotFinder adalah solusi parkir cerdas yang menggabungkan web, database, IoT, dan AI agar parkir lebih cepat dan mudah dipantau. Sekian presentasi dari saya, terima kasih.
ANIMASI CANVA: Logo: Breathe. Judul: Fade. Tombol terima kasih: Pop.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pic>
        <p:nvPicPr>
          <p:cNvPr id="5" name="Image 0" descr="C:\xampp\htdocs\spotfinder-promo\assets\img\favicon.png">    </p:cNvPr>
          <p:cNvPicPr>
            <a:picLocks noChangeAspect="1"/>
          </p:cNvPicPr>
          <p:nvPr/>
        </p:nvPicPr>
        <p:blipFill>
          <a:blip r:embed="rId1"/>
          <a:stretch>
            <a:fillRect/>
          </a:stretch>
        </p:blipFill>
        <p:spPr>
          <a:xfrm>
            <a:off x="658368" y="566928"/>
            <a:ext cx="411480" cy="411480"/>
          </a:xfrm>
          <a:prstGeom prst="rect">
            <a:avLst/>
          </a:prstGeom>
        </p:spPr>
      </p:pic>
      <p:sp>
        <p:nvSpPr>
          <p:cNvPr id="6" name="Text 3"/>
          <p:cNvSpPr/>
          <p:nvPr/>
        </p:nvSpPr>
        <p:spPr>
          <a:xfrm>
            <a:off x="1143000" y="658368"/>
            <a:ext cx="2194560" cy="219456"/>
          </a:xfrm>
          <a:prstGeom prst="rect">
            <a:avLst/>
          </a:prstGeom>
          <a:noFill/>
          <a:ln/>
        </p:spPr>
        <p:txBody>
          <a:bodyPr wrap="square" lIns="254" tIns="254" rIns="254" bIns="254" rtlCol="0" anchor="ctr">
            <a:normAutofit/>
          </a:bodyPr>
          <a:lstStyle/>
          <a:p>
            <a:pPr indent="0" marL="0">
              <a:buNone/>
            </a:pPr>
            <a:r>
              <a:rPr lang="en-US" sz="1600" b="1" dirty="0">
                <a:solidFill>
                  <a:srgbClr val="EEF7F4"/>
                </a:solidFill>
              </a:rPr>
              <a:t>SpotFinder</a:t>
            </a:r>
            <a:endParaRPr lang="en-US" sz="1600" dirty="0"/>
          </a:p>
        </p:txBody>
      </p:sp>
      <p:sp>
        <p:nvSpPr>
          <p:cNvPr id="7" name="Text 4"/>
          <p:cNvSpPr/>
          <p:nvPr/>
        </p:nvSpPr>
        <p:spPr>
          <a:xfrm>
            <a:off x="658368" y="1298448"/>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JUDUL DAN TEMA PROJECT</a:t>
            </a:r>
            <a:endParaRPr lang="en-US" sz="1000" dirty="0"/>
          </a:p>
        </p:txBody>
      </p:sp>
      <p:sp>
        <p:nvSpPr>
          <p:cNvPr id="8" name="Text 5"/>
          <p:cNvSpPr/>
          <p:nvPr/>
        </p:nvSpPr>
        <p:spPr>
          <a:xfrm>
            <a:off x="658368" y="1645920"/>
            <a:ext cx="6035040" cy="640080"/>
          </a:xfrm>
          <a:prstGeom prst="rect">
            <a:avLst/>
          </a:prstGeom>
          <a:noFill/>
          <a:ln/>
        </p:spPr>
        <p:txBody>
          <a:bodyPr wrap="square" lIns="254" tIns="254" rIns="254" bIns="254" rtlCol="0" anchor="ctr">
            <a:normAutofit/>
          </a:bodyPr>
          <a:lstStyle/>
          <a:p>
            <a:pPr indent="0" marL="0">
              <a:buNone/>
            </a:pPr>
            <a:r>
              <a:rPr lang="en-US" sz="4500" b="1" dirty="0">
                <a:solidFill>
                  <a:srgbClr val="EEF7F4"/>
                </a:solidFill>
                <a:latin typeface="Aptos Display" pitchFamily="34" charset="0"/>
                <a:ea typeface="Aptos Display" pitchFamily="34" charset="-122"/>
                <a:cs typeface="Aptos Display" pitchFamily="34" charset="-120"/>
              </a:rPr>
              <a:t>SpotFinder</a:t>
            </a:r>
            <a:endParaRPr lang="en-US" sz="4500" dirty="0"/>
          </a:p>
        </p:txBody>
      </p:sp>
      <p:sp>
        <p:nvSpPr>
          <p:cNvPr id="9" name="Text 6"/>
          <p:cNvSpPr/>
          <p:nvPr/>
        </p:nvSpPr>
        <p:spPr>
          <a:xfrm>
            <a:off x="676656" y="2331720"/>
            <a:ext cx="6172200" cy="777240"/>
          </a:xfrm>
          <a:prstGeom prst="rect">
            <a:avLst/>
          </a:prstGeom>
          <a:noFill/>
          <a:ln/>
        </p:spPr>
        <p:txBody>
          <a:bodyPr wrap="square" lIns="254" tIns="254" rIns="254" bIns="254" rtlCol="0" anchor="ctr">
            <a:normAutofit/>
          </a:bodyPr>
          <a:lstStyle/>
          <a:p>
            <a:pPr indent="0" marL="0">
              <a:buNone/>
            </a:pPr>
            <a:r>
              <a:rPr lang="en-US" sz="2400" b="1" dirty="0">
                <a:solidFill>
                  <a:srgbClr val="35D0FF"/>
                </a:solidFill>
              </a:rPr>
              <a:t>Sistem Parkir Cerdas Berbasis IoT, Web, Database, dan AI Voice Assistant</a:t>
            </a:r>
            <a:endParaRPr lang="en-US" sz="2400" dirty="0"/>
          </a:p>
        </p:txBody>
      </p:sp>
      <p:sp>
        <p:nvSpPr>
          <p:cNvPr id="10" name="Text 7"/>
          <p:cNvSpPr/>
          <p:nvPr/>
        </p:nvSpPr>
        <p:spPr>
          <a:xfrm>
            <a:off x="713232" y="3429000"/>
            <a:ext cx="5669280" cy="731520"/>
          </a:xfrm>
          <a:prstGeom prst="rect">
            <a:avLst/>
          </a:prstGeom>
          <a:noFill/>
          <a:ln/>
        </p:spPr>
        <p:txBody>
          <a:bodyPr wrap="square" lIns="254" tIns="254" rIns="254" bIns="254" rtlCol="0" anchor="ctr">
            <a:normAutofit/>
          </a:bodyPr>
          <a:lstStyle/>
          <a:p>
            <a:pPr indent="0" marL="0">
              <a:buNone/>
            </a:pPr>
            <a:r>
              <a:rPr lang="en-US" sz="1550" dirty="0">
                <a:solidFill>
                  <a:srgbClr val="D6E6EA"/>
                </a:solidFill>
              </a:rPr>
              <a:t>Project ini dibuat untuk membantu pengguna menemukan slot parkir lebih cepat dan membantu pengelola memantau data parkir secara real-time.</a:t>
            </a:r>
            <a:endParaRPr lang="en-US" sz="1550" dirty="0"/>
          </a:p>
        </p:txBody>
      </p:sp>
      <p:sp>
        <p:nvSpPr>
          <p:cNvPr id="11" name="Shape 8"/>
          <p:cNvSpPr/>
          <p:nvPr/>
        </p:nvSpPr>
        <p:spPr>
          <a:xfrm>
            <a:off x="713232" y="4572000"/>
            <a:ext cx="2560320" cy="585216"/>
          </a:xfrm>
          <a:prstGeom prst="roundRect">
            <a:avLst>
              <a:gd name="adj" fmla="val 9375"/>
            </a:avLst>
          </a:prstGeom>
          <a:solidFill>
            <a:srgbClr val="13242E"/>
          </a:solidFill>
          <a:ln w="12700">
            <a:solidFill>
              <a:srgbClr val="34515E">
                <a:alpha val="92000"/>
              </a:srgbClr>
            </a:solidFill>
            <a:prstDash val="solid"/>
          </a:ln>
        </p:spPr>
      </p:sp>
      <p:sp>
        <p:nvSpPr>
          <p:cNvPr id="12" name="Shape 9"/>
          <p:cNvSpPr/>
          <p:nvPr/>
        </p:nvSpPr>
        <p:spPr>
          <a:xfrm>
            <a:off x="713232" y="4572000"/>
            <a:ext cx="59436" cy="585216"/>
          </a:xfrm>
          <a:prstGeom prst="rect">
            <a:avLst/>
          </a:prstGeom>
          <a:solidFill>
            <a:srgbClr val="77E08F"/>
          </a:solidFill>
          <a:ln w="12700">
            <a:solidFill>
              <a:srgbClr val="77E08F"/>
            </a:solidFill>
            <a:prstDash val="solid"/>
          </a:ln>
        </p:spPr>
      </p:sp>
      <p:sp>
        <p:nvSpPr>
          <p:cNvPr id="13" name="Text 10"/>
          <p:cNvSpPr/>
          <p:nvPr/>
        </p:nvSpPr>
        <p:spPr>
          <a:xfrm>
            <a:off x="877824" y="4718304"/>
            <a:ext cx="224942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By</a:t>
            </a:r>
            <a:endParaRPr lang="en-US" sz="1600" dirty="0"/>
          </a:p>
        </p:txBody>
      </p:sp>
      <p:sp>
        <p:nvSpPr>
          <p:cNvPr id="14" name="Text 11"/>
          <p:cNvSpPr/>
          <p:nvPr/>
        </p:nvSpPr>
        <p:spPr>
          <a:xfrm>
            <a:off x="877824" y="5102352"/>
            <a:ext cx="2249424" cy="-73152"/>
          </a:xfrm>
          <a:prstGeom prst="rect">
            <a:avLst/>
          </a:prstGeom>
          <a:noFill/>
          <a:ln/>
        </p:spPr>
        <p:txBody>
          <a:bodyPr wrap="square" lIns="0" tIns="0" rIns="0" bIns="0" rtlCol="0" anchor="ctr">
            <a:normAutofit/>
          </a:bodyPr>
          <a:lstStyle/>
          <a:p>
            <a:pPr indent="0" marL="0">
              <a:buNone/>
            </a:pPr>
            <a:r>
              <a:rPr lang="en-US" sz="1300" dirty="0">
                <a:solidFill>
                  <a:srgbClr val="A8B9C2"/>
                </a:solidFill>
              </a:rPr>
              <a:t>Zahran Al Syafit</a:t>
            </a:r>
            <a:endParaRPr lang="en-US" sz="1300" dirty="0"/>
          </a:p>
        </p:txBody>
      </p:sp>
      <p:sp>
        <p:nvSpPr>
          <p:cNvPr id="15" name="Shape 12"/>
          <p:cNvSpPr/>
          <p:nvPr/>
        </p:nvSpPr>
        <p:spPr>
          <a:xfrm>
            <a:off x="3520440" y="4572000"/>
            <a:ext cx="2194560" cy="585216"/>
          </a:xfrm>
          <a:prstGeom prst="roundRect">
            <a:avLst>
              <a:gd name="adj" fmla="val 9375"/>
            </a:avLst>
          </a:prstGeom>
          <a:solidFill>
            <a:srgbClr val="13242E"/>
          </a:solidFill>
          <a:ln w="12700">
            <a:solidFill>
              <a:srgbClr val="34515E">
                <a:alpha val="92000"/>
              </a:srgbClr>
            </a:solidFill>
            <a:prstDash val="solid"/>
          </a:ln>
        </p:spPr>
      </p:sp>
      <p:sp>
        <p:nvSpPr>
          <p:cNvPr id="16" name="Shape 13"/>
          <p:cNvSpPr/>
          <p:nvPr/>
        </p:nvSpPr>
        <p:spPr>
          <a:xfrm>
            <a:off x="3520440" y="4572000"/>
            <a:ext cx="59436" cy="585216"/>
          </a:xfrm>
          <a:prstGeom prst="rect">
            <a:avLst/>
          </a:prstGeom>
          <a:solidFill>
            <a:srgbClr val="F7C948"/>
          </a:solidFill>
          <a:ln w="12700">
            <a:solidFill>
              <a:srgbClr val="F7C948"/>
            </a:solidFill>
            <a:prstDash val="solid"/>
          </a:ln>
        </p:spPr>
      </p:sp>
      <p:sp>
        <p:nvSpPr>
          <p:cNvPr id="17" name="Text 14"/>
          <p:cNvSpPr/>
          <p:nvPr/>
        </p:nvSpPr>
        <p:spPr>
          <a:xfrm>
            <a:off x="3685032" y="4718304"/>
            <a:ext cx="18836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Durasi</a:t>
            </a:r>
            <a:endParaRPr lang="en-US" sz="1600" dirty="0"/>
          </a:p>
        </p:txBody>
      </p:sp>
      <p:sp>
        <p:nvSpPr>
          <p:cNvPr id="18" name="Text 15"/>
          <p:cNvSpPr/>
          <p:nvPr/>
        </p:nvSpPr>
        <p:spPr>
          <a:xfrm>
            <a:off x="3685032" y="5102352"/>
            <a:ext cx="1883664" cy="-73152"/>
          </a:xfrm>
          <a:prstGeom prst="rect">
            <a:avLst/>
          </a:prstGeom>
          <a:noFill/>
          <a:ln/>
        </p:spPr>
        <p:txBody>
          <a:bodyPr wrap="square" lIns="0" tIns="0" rIns="0" bIns="0" rtlCol="0" anchor="ctr">
            <a:normAutofit/>
          </a:bodyPr>
          <a:lstStyle/>
          <a:p>
            <a:pPr indent="0" marL="0">
              <a:buNone/>
            </a:pPr>
            <a:r>
              <a:rPr lang="en-US" sz="1300" dirty="0">
                <a:solidFill>
                  <a:srgbClr val="A8B9C2"/>
                </a:solidFill>
              </a:rPr>
              <a:t>10 Menit</a:t>
            </a:r>
            <a:endParaRPr lang="en-US" sz="1300" dirty="0"/>
          </a:p>
        </p:txBody>
      </p:sp>
      <p:pic>
        <p:nvPicPr>
          <p:cNvPr id="19" name="Image 1" descr="C:\xampp\htdocs\spotfinder-promo\assets\img\hero.png">    </p:cNvPr>
          <p:cNvPicPr>
            <a:picLocks noChangeAspect="1"/>
          </p:cNvPicPr>
          <p:nvPr/>
        </p:nvPicPr>
        <p:blipFill>
          <a:blip r:embed="rId2"/>
          <a:stretch>
            <a:fillRect/>
          </a:stretch>
        </p:blipFill>
        <p:spPr>
          <a:xfrm>
            <a:off x="7315200" y="804672"/>
            <a:ext cx="3794760" cy="4480560"/>
          </a:xfrm>
          <a:prstGeom prst="rect">
            <a:avLst/>
          </a:prstGeom>
        </p:spPr>
      </p:pic>
      <p:sp>
        <p:nvSpPr>
          <p:cNvPr id="21" name="Text 16"/>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01 - Judul dan Tema</a:t>
            </a:r>
            <a:endParaRPr lang="en-US" sz="850" dirty="0"/>
          </a:p>
        </p:txBody>
      </p:sp>
      <p:sp>
        <p:nvSpPr>
          <p:cNvPr id="22" name="Text 17"/>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0:45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LATAR BELAKANG / MASALAH</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Masalah parkir manual masih sering terjadi di area ramai.</a:t>
            </a:r>
            <a:endParaRPr lang="en-US" sz="3200" dirty="0"/>
          </a:p>
        </p:txBody>
      </p:sp>
      <p:sp>
        <p:nvSpPr>
          <p:cNvPr id="7" name="Text 5"/>
          <p:cNvSpPr/>
          <p:nvPr/>
        </p:nvSpPr>
        <p:spPr>
          <a:xfrm>
            <a:off x="658368" y="1325880"/>
            <a:ext cx="5486400" cy="1005840"/>
          </a:xfrm>
          <a:prstGeom prst="rect">
            <a:avLst/>
          </a:prstGeom>
          <a:noFill/>
          <a:ln/>
        </p:spPr>
        <p:txBody>
          <a:bodyPr wrap="square" lIns="254" tIns="254" rIns="254" bIns="254" rtlCol="0" anchor="ctr">
            <a:normAutofit/>
          </a:bodyPr>
          <a:lstStyle/>
          <a:p>
            <a:pPr indent="0" marL="0">
              <a:buNone/>
            </a:pPr>
            <a:r>
              <a:rPr lang="en-US" sz="1550" dirty="0">
                <a:solidFill>
                  <a:srgbClr val="A8B9C2"/>
                </a:solidFill>
              </a:rPr>
              <a:t>Pada sistem parkir biasa, pengguna sering tidak tahu slot mana yang kosong. Di sisi pengelola, data kendaraan, transaksi, dan kapasitas parkir juga tidak selalu tercatat secara cepat.</a:t>
            </a:r>
            <a:endParaRPr lang="en-US" sz="1550" dirty="0"/>
          </a:p>
        </p:txBody>
      </p:sp>
      <p:sp>
        <p:nvSpPr>
          <p:cNvPr id="8" name="Text 6"/>
          <p:cNvSpPr/>
          <p:nvPr/>
        </p:nvSpPr>
        <p:spPr>
          <a:xfrm>
            <a:off x="685800" y="2743200"/>
            <a:ext cx="5120640" cy="2286000"/>
          </a:xfrm>
          <a:prstGeom prst="rect">
            <a:avLst/>
          </a:prstGeom>
          <a:noFill/>
          <a:ln/>
        </p:spPr>
        <p:txBody>
          <a:bodyPr wrap="square" lIns="0" tIns="0" rIns="0" bIns="0" rtlCol="0" anchor="ctr">
            <a:normAutofit/>
          </a:bodyPr>
          <a:lstStyle/>
          <a:p>
            <a:r>
              <a:rPr lang="en-US" sz="1380" dirty="0">
                <a:solidFill>
                  <a:srgbClr val="A8B9C2"/>
                </a:solidFill>
              </a:rPr>
              <a:t>Pengguna membuang waktu mencari tempat kosong.</a:t>
            </a:r>
            <a:endParaRPr lang="en-US" sz="1380" dirty="0"/>
          </a:p>
          <a:p>
            <a:r>
              <a:rPr lang="en-US" sz="1380" dirty="0">
                <a:solidFill>
                  <a:srgbClr val="A8B9C2"/>
                </a:solidFill>
              </a:rPr>
              <a:t>Status slot tidak terlihat secara real-time.</a:t>
            </a:r>
            <a:endParaRPr lang="en-US" sz="1380" dirty="0"/>
          </a:p>
          <a:p>
            <a:r>
              <a:rPr lang="en-US" sz="1380" dirty="0">
                <a:solidFill>
                  <a:srgbClr val="A8B9C2"/>
                </a:solidFill>
              </a:rPr>
              <a:t>Proses masuk dan keluar masih banyak yang manual.</a:t>
            </a:r>
            <a:endParaRPr lang="en-US" sz="1380" dirty="0"/>
          </a:p>
          <a:p>
            <a:r>
              <a:rPr lang="en-US" sz="1380" dirty="0">
                <a:solidFill>
                  <a:srgbClr val="A8B9C2"/>
                </a:solidFill>
              </a:rPr>
              <a:t>Riwayat parkir dan transaksi belum tersusun rapi.</a:t>
            </a:r>
            <a:endParaRPr lang="en-US" sz="1380" dirty="0"/>
          </a:p>
          <a:p>
            <a:r>
              <a:rPr lang="en-US" sz="1380" dirty="0">
                <a:solidFill>
                  <a:srgbClr val="A8B9C2"/>
                </a:solidFill>
              </a:rPr>
              <a:t>Pengelola sulit melihat laporan operasional dengan cepat.</a:t>
            </a:r>
            <a:endParaRPr lang="en-US" sz="1380" dirty="0"/>
          </a:p>
        </p:txBody>
      </p:sp>
      <p:sp>
        <p:nvSpPr>
          <p:cNvPr id="9" name="Shape 7"/>
          <p:cNvSpPr/>
          <p:nvPr/>
        </p:nvSpPr>
        <p:spPr>
          <a:xfrm>
            <a:off x="6446520" y="1417320"/>
            <a:ext cx="1828800" cy="1234440"/>
          </a:xfrm>
          <a:prstGeom prst="roundRect">
            <a:avLst>
              <a:gd name="adj" fmla="val 4444"/>
            </a:avLst>
          </a:prstGeom>
          <a:solidFill>
            <a:srgbClr val="13242E"/>
          </a:solidFill>
          <a:ln w="12700">
            <a:solidFill>
              <a:srgbClr val="34515E">
                <a:alpha val="92000"/>
              </a:srgbClr>
            </a:solidFill>
            <a:prstDash val="solid"/>
          </a:ln>
        </p:spPr>
      </p:sp>
      <p:sp>
        <p:nvSpPr>
          <p:cNvPr id="10" name="Shape 8"/>
          <p:cNvSpPr/>
          <p:nvPr/>
        </p:nvSpPr>
        <p:spPr>
          <a:xfrm>
            <a:off x="6446520" y="1417320"/>
            <a:ext cx="59436" cy="1234440"/>
          </a:xfrm>
          <a:prstGeom prst="rect">
            <a:avLst/>
          </a:prstGeom>
          <a:solidFill>
            <a:srgbClr val="35D0FF"/>
          </a:solidFill>
          <a:ln w="12700">
            <a:solidFill>
              <a:srgbClr val="35D0FF"/>
            </a:solidFill>
            <a:prstDash val="solid"/>
          </a:ln>
        </p:spPr>
      </p:sp>
      <p:sp>
        <p:nvSpPr>
          <p:cNvPr id="11" name="Text 9"/>
          <p:cNvSpPr/>
          <p:nvPr/>
        </p:nvSpPr>
        <p:spPr>
          <a:xfrm>
            <a:off x="6611112" y="1563624"/>
            <a:ext cx="15179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Waktu</a:t>
            </a:r>
            <a:endParaRPr lang="en-US" sz="1600" dirty="0"/>
          </a:p>
        </p:txBody>
      </p:sp>
      <p:sp>
        <p:nvSpPr>
          <p:cNvPr id="12" name="Text 10"/>
          <p:cNvSpPr/>
          <p:nvPr/>
        </p:nvSpPr>
        <p:spPr>
          <a:xfrm>
            <a:off x="6611112" y="1947672"/>
            <a:ext cx="1517904" cy="576072"/>
          </a:xfrm>
          <a:prstGeom prst="rect">
            <a:avLst/>
          </a:prstGeom>
          <a:noFill/>
          <a:ln/>
        </p:spPr>
        <p:txBody>
          <a:bodyPr wrap="square" lIns="0" tIns="0" rIns="0" bIns="0" rtlCol="0" anchor="ctr">
            <a:normAutofit/>
          </a:bodyPr>
          <a:lstStyle/>
          <a:p>
            <a:pPr indent="0" marL="0">
              <a:buNone/>
            </a:pPr>
            <a:r>
              <a:rPr lang="en-US" sz="1150" dirty="0">
                <a:solidFill>
                  <a:srgbClr val="A8B9C2"/>
                </a:solidFill>
              </a:rPr>
              <a:t>Pencarian parkir menjadi lebih lama.</a:t>
            </a:r>
            <a:endParaRPr lang="en-US" sz="1150" dirty="0"/>
          </a:p>
        </p:txBody>
      </p:sp>
      <p:sp>
        <p:nvSpPr>
          <p:cNvPr id="13" name="Shape 11"/>
          <p:cNvSpPr/>
          <p:nvPr/>
        </p:nvSpPr>
        <p:spPr>
          <a:xfrm>
            <a:off x="8641080" y="1417320"/>
            <a:ext cx="1828800" cy="1234440"/>
          </a:xfrm>
          <a:prstGeom prst="roundRect">
            <a:avLst>
              <a:gd name="adj" fmla="val 4444"/>
            </a:avLst>
          </a:prstGeom>
          <a:solidFill>
            <a:srgbClr val="13242E"/>
          </a:solidFill>
          <a:ln w="12700">
            <a:solidFill>
              <a:srgbClr val="34515E">
                <a:alpha val="92000"/>
              </a:srgbClr>
            </a:solidFill>
            <a:prstDash val="solid"/>
          </a:ln>
        </p:spPr>
      </p:sp>
      <p:sp>
        <p:nvSpPr>
          <p:cNvPr id="14" name="Shape 12"/>
          <p:cNvSpPr/>
          <p:nvPr/>
        </p:nvSpPr>
        <p:spPr>
          <a:xfrm>
            <a:off x="8641080" y="1417320"/>
            <a:ext cx="59436" cy="1234440"/>
          </a:xfrm>
          <a:prstGeom prst="rect">
            <a:avLst/>
          </a:prstGeom>
          <a:solidFill>
            <a:srgbClr val="77E08F"/>
          </a:solidFill>
          <a:ln w="12700">
            <a:solidFill>
              <a:srgbClr val="77E08F"/>
            </a:solidFill>
            <a:prstDash val="solid"/>
          </a:ln>
        </p:spPr>
      </p:sp>
      <p:sp>
        <p:nvSpPr>
          <p:cNvPr id="15" name="Text 13"/>
          <p:cNvSpPr/>
          <p:nvPr/>
        </p:nvSpPr>
        <p:spPr>
          <a:xfrm>
            <a:off x="8805672" y="1563624"/>
            <a:ext cx="15179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Data</a:t>
            </a:r>
            <a:endParaRPr lang="en-US" sz="1600" dirty="0"/>
          </a:p>
        </p:txBody>
      </p:sp>
      <p:sp>
        <p:nvSpPr>
          <p:cNvPr id="16" name="Text 14"/>
          <p:cNvSpPr/>
          <p:nvPr/>
        </p:nvSpPr>
        <p:spPr>
          <a:xfrm>
            <a:off x="8805672" y="1947672"/>
            <a:ext cx="1517904" cy="576072"/>
          </a:xfrm>
          <a:prstGeom prst="rect">
            <a:avLst/>
          </a:prstGeom>
          <a:noFill/>
          <a:ln/>
        </p:spPr>
        <p:txBody>
          <a:bodyPr wrap="square" lIns="0" tIns="0" rIns="0" bIns="0" rtlCol="0" anchor="ctr">
            <a:normAutofit/>
          </a:bodyPr>
          <a:lstStyle/>
          <a:p>
            <a:pPr indent="0" marL="0">
              <a:buNone/>
            </a:pPr>
            <a:r>
              <a:rPr lang="en-US" sz="1150" dirty="0">
                <a:solidFill>
                  <a:srgbClr val="A8B9C2"/>
                </a:solidFill>
              </a:rPr>
              <a:t>Riwayat dan transaksi tidak terpusat.</a:t>
            </a:r>
            <a:endParaRPr lang="en-US" sz="1150" dirty="0"/>
          </a:p>
        </p:txBody>
      </p:sp>
      <p:sp>
        <p:nvSpPr>
          <p:cNvPr id="17" name="Shape 15"/>
          <p:cNvSpPr/>
          <p:nvPr/>
        </p:nvSpPr>
        <p:spPr>
          <a:xfrm>
            <a:off x="6446520" y="3063240"/>
            <a:ext cx="1828800" cy="1234440"/>
          </a:xfrm>
          <a:prstGeom prst="roundRect">
            <a:avLst>
              <a:gd name="adj" fmla="val 4444"/>
            </a:avLst>
          </a:prstGeom>
          <a:solidFill>
            <a:srgbClr val="13242E"/>
          </a:solidFill>
          <a:ln w="12700">
            <a:solidFill>
              <a:srgbClr val="34515E">
                <a:alpha val="92000"/>
              </a:srgbClr>
            </a:solidFill>
            <a:prstDash val="solid"/>
          </a:ln>
        </p:spPr>
      </p:sp>
      <p:sp>
        <p:nvSpPr>
          <p:cNvPr id="18" name="Shape 16"/>
          <p:cNvSpPr/>
          <p:nvPr/>
        </p:nvSpPr>
        <p:spPr>
          <a:xfrm>
            <a:off x="6446520" y="3063240"/>
            <a:ext cx="59436" cy="1234440"/>
          </a:xfrm>
          <a:prstGeom prst="rect">
            <a:avLst/>
          </a:prstGeom>
          <a:solidFill>
            <a:srgbClr val="F7C948"/>
          </a:solidFill>
          <a:ln w="12700">
            <a:solidFill>
              <a:srgbClr val="F7C948"/>
            </a:solidFill>
            <a:prstDash val="solid"/>
          </a:ln>
        </p:spPr>
      </p:sp>
      <p:sp>
        <p:nvSpPr>
          <p:cNvPr id="19" name="Text 17"/>
          <p:cNvSpPr/>
          <p:nvPr/>
        </p:nvSpPr>
        <p:spPr>
          <a:xfrm>
            <a:off x="6611112" y="3209544"/>
            <a:ext cx="15179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Akses</a:t>
            </a:r>
            <a:endParaRPr lang="en-US" sz="1600" dirty="0"/>
          </a:p>
        </p:txBody>
      </p:sp>
      <p:sp>
        <p:nvSpPr>
          <p:cNvPr id="20" name="Text 18"/>
          <p:cNvSpPr/>
          <p:nvPr/>
        </p:nvSpPr>
        <p:spPr>
          <a:xfrm>
            <a:off x="6611112" y="3593592"/>
            <a:ext cx="1517904" cy="576072"/>
          </a:xfrm>
          <a:prstGeom prst="rect">
            <a:avLst/>
          </a:prstGeom>
          <a:noFill/>
          <a:ln/>
        </p:spPr>
        <p:txBody>
          <a:bodyPr wrap="square" lIns="0" tIns="0" rIns="0" bIns="0" rtlCol="0" anchor="ctr">
            <a:normAutofit/>
          </a:bodyPr>
          <a:lstStyle/>
          <a:p>
            <a:pPr indent="0" marL="0">
              <a:buNone/>
            </a:pPr>
            <a:r>
              <a:rPr lang="en-US" sz="1150" dirty="0">
                <a:solidFill>
                  <a:srgbClr val="A8B9C2"/>
                </a:solidFill>
              </a:rPr>
              <a:t>Palang masuk-keluar belum otomatis.</a:t>
            </a:r>
            <a:endParaRPr lang="en-US" sz="1150" dirty="0"/>
          </a:p>
        </p:txBody>
      </p:sp>
      <p:sp>
        <p:nvSpPr>
          <p:cNvPr id="21" name="Shape 19"/>
          <p:cNvSpPr/>
          <p:nvPr/>
        </p:nvSpPr>
        <p:spPr>
          <a:xfrm>
            <a:off x="8641080" y="3063240"/>
            <a:ext cx="1828800" cy="1234440"/>
          </a:xfrm>
          <a:prstGeom prst="roundRect">
            <a:avLst>
              <a:gd name="adj" fmla="val 4444"/>
            </a:avLst>
          </a:prstGeom>
          <a:solidFill>
            <a:srgbClr val="13242E"/>
          </a:solidFill>
          <a:ln w="12700">
            <a:solidFill>
              <a:srgbClr val="34515E">
                <a:alpha val="92000"/>
              </a:srgbClr>
            </a:solidFill>
            <a:prstDash val="solid"/>
          </a:ln>
        </p:spPr>
      </p:sp>
      <p:sp>
        <p:nvSpPr>
          <p:cNvPr id="22" name="Shape 20"/>
          <p:cNvSpPr/>
          <p:nvPr/>
        </p:nvSpPr>
        <p:spPr>
          <a:xfrm>
            <a:off x="8641080" y="3063240"/>
            <a:ext cx="59436" cy="1234440"/>
          </a:xfrm>
          <a:prstGeom prst="rect">
            <a:avLst/>
          </a:prstGeom>
          <a:solidFill>
            <a:srgbClr val="FF7A7A"/>
          </a:solidFill>
          <a:ln w="12700">
            <a:solidFill>
              <a:srgbClr val="FF7A7A"/>
            </a:solidFill>
            <a:prstDash val="solid"/>
          </a:ln>
        </p:spPr>
      </p:sp>
      <p:sp>
        <p:nvSpPr>
          <p:cNvPr id="23" name="Text 21"/>
          <p:cNvSpPr/>
          <p:nvPr/>
        </p:nvSpPr>
        <p:spPr>
          <a:xfrm>
            <a:off x="8805672" y="3209544"/>
            <a:ext cx="15179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Laporan</a:t>
            </a:r>
            <a:endParaRPr lang="en-US" sz="1600" dirty="0"/>
          </a:p>
        </p:txBody>
      </p:sp>
      <p:sp>
        <p:nvSpPr>
          <p:cNvPr id="24" name="Text 22"/>
          <p:cNvSpPr/>
          <p:nvPr/>
        </p:nvSpPr>
        <p:spPr>
          <a:xfrm>
            <a:off x="8805672" y="3593592"/>
            <a:ext cx="1517904" cy="576072"/>
          </a:xfrm>
          <a:prstGeom prst="rect">
            <a:avLst/>
          </a:prstGeom>
          <a:noFill/>
          <a:ln/>
        </p:spPr>
        <p:txBody>
          <a:bodyPr wrap="square" lIns="0" tIns="0" rIns="0" bIns="0" rtlCol="0" anchor="ctr">
            <a:normAutofit/>
          </a:bodyPr>
          <a:lstStyle/>
          <a:p>
            <a:pPr indent="0" marL="0">
              <a:buNone/>
            </a:pPr>
            <a:r>
              <a:rPr lang="en-US" sz="1150" dirty="0">
                <a:solidFill>
                  <a:srgbClr val="A8B9C2"/>
                </a:solidFill>
              </a:rPr>
              <a:t>Rekap admin membutuhkan waktu.</a:t>
            </a:r>
            <a:endParaRPr lang="en-US" sz="1150" dirty="0"/>
          </a:p>
        </p:txBody>
      </p:sp>
      <p:sp>
        <p:nvSpPr>
          <p:cNvPr id="26" name="Text 23"/>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02 - Latar Belakang</a:t>
            </a:r>
            <a:endParaRPr lang="en-US" sz="850" dirty="0"/>
          </a:p>
        </p:txBody>
      </p:sp>
      <p:sp>
        <p:nvSpPr>
          <p:cNvPr id="27" name="Text 24"/>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TUJUAN / SOLUSI</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SpotFinder hadir sebagai solusi parkir yang lebih cepat dan terdata.</a:t>
            </a:r>
            <a:endParaRPr lang="en-US" sz="3200" dirty="0"/>
          </a:p>
        </p:txBody>
      </p:sp>
      <p:sp>
        <p:nvSpPr>
          <p:cNvPr id="7" name="Text 5"/>
          <p:cNvSpPr/>
          <p:nvPr/>
        </p:nvSpPr>
        <p:spPr>
          <a:xfrm>
            <a:off x="658368" y="1298448"/>
            <a:ext cx="10058400" cy="640080"/>
          </a:xfrm>
          <a:prstGeom prst="rect">
            <a:avLst/>
          </a:prstGeom>
          <a:noFill/>
          <a:ln/>
        </p:spPr>
        <p:txBody>
          <a:bodyPr wrap="square" lIns="254" tIns="254" rIns="254" bIns="254" rtlCol="0" anchor="ctr">
            <a:normAutofit/>
          </a:bodyPr>
          <a:lstStyle/>
          <a:p>
            <a:pPr indent="0" marL="0">
              <a:buNone/>
            </a:pPr>
            <a:r>
              <a:rPr lang="en-US" sz="1550" dirty="0">
                <a:solidFill>
                  <a:srgbClr val="A8B9C2"/>
                </a:solidFill>
              </a:rPr>
              <a:t>Tujuan utama project ini adalah membuat prototype smart parking yang menggabungkan aplikasi web, database, perangkat IoT, dan notifikasi AI agar proses parkir lebih mudah dipantau.</a:t>
            </a:r>
            <a:endParaRPr lang="en-US" sz="1550" dirty="0"/>
          </a:p>
        </p:txBody>
      </p:sp>
      <p:sp>
        <p:nvSpPr>
          <p:cNvPr id="8" name="Shape 6"/>
          <p:cNvSpPr/>
          <p:nvPr/>
        </p:nvSpPr>
        <p:spPr>
          <a:xfrm>
            <a:off x="731520" y="2148840"/>
            <a:ext cx="2514600" cy="1417320"/>
          </a:xfrm>
          <a:prstGeom prst="roundRect">
            <a:avLst>
              <a:gd name="adj" fmla="val 3871"/>
            </a:avLst>
          </a:prstGeom>
          <a:solidFill>
            <a:srgbClr val="13242E"/>
          </a:solidFill>
          <a:ln w="12700">
            <a:solidFill>
              <a:srgbClr val="34515E">
                <a:alpha val="92000"/>
              </a:srgbClr>
            </a:solidFill>
            <a:prstDash val="solid"/>
          </a:ln>
        </p:spPr>
      </p:sp>
      <p:sp>
        <p:nvSpPr>
          <p:cNvPr id="9" name="Shape 7"/>
          <p:cNvSpPr/>
          <p:nvPr/>
        </p:nvSpPr>
        <p:spPr>
          <a:xfrm>
            <a:off x="731520" y="2148840"/>
            <a:ext cx="59436" cy="1417320"/>
          </a:xfrm>
          <a:prstGeom prst="rect">
            <a:avLst/>
          </a:prstGeom>
          <a:solidFill>
            <a:srgbClr val="35D0FF"/>
          </a:solidFill>
          <a:ln w="12700">
            <a:solidFill>
              <a:srgbClr val="35D0FF"/>
            </a:solidFill>
            <a:prstDash val="solid"/>
          </a:ln>
        </p:spPr>
      </p:sp>
      <p:sp>
        <p:nvSpPr>
          <p:cNvPr id="10" name="Text 8"/>
          <p:cNvSpPr/>
          <p:nvPr/>
        </p:nvSpPr>
        <p:spPr>
          <a:xfrm>
            <a:off x="896112" y="2295144"/>
            <a:ext cx="22037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Real-time Slot</a:t>
            </a:r>
            <a:endParaRPr lang="en-US" sz="1600" dirty="0"/>
          </a:p>
        </p:txBody>
      </p:sp>
      <p:sp>
        <p:nvSpPr>
          <p:cNvPr id="11" name="Text 9"/>
          <p:cNvSpPr/>
          <p:nvPr/>
        </p:nvSpPr>
        <p:spPr>
          <a:xfrm>
            <a:off x="896112" y="2679192"/>
            <a:ext cx="2203704" cy="758952"/>
          </a:xfrm>
          <a:prstGeom prst="rect">
            <a:avLst/>
          </a:prstGeom>
          <a:noFill/>
          <a:ln/>
        </p:spPr>
        <p:txBody>
          <a:bodyPr wrap="square" lIns="0" tIns="0" rIns="0" bIns="0" rtlCol="0" anchor="ctr">
            <a:normAutofit/>
          </a:bodyPr>
          <a:lstStyle/>
          <a:p>
            <a:pPr indent="0" marL="0">
              <a:buNone/>
            </a:pPr>
            <a:r>
              <a:rPr lang="en-US" sz="1150" dirty="0">
                <a:solidFill>
                  <a:srgbClr val="A8B9C2"/>
                </a:solidFill>
              </a:rPr>
              <a:t>Status kosong, terisi, booking, dan pelanggaran terlihat langsung.</a:t>
            </a:r>
            <a:endParaRPr lang="en-US" sz="1150" dirty="0"/>
          </a:p>
        </p:txBody>
      </p:sp>
      <p:sp>
        <p:nvSpPr>
          <p:cNvPr id="12" name="Shape 10"/>
          <p:cNvSpPr/>
          <p:nvPr/>
        </p:nvSpPr>
        <p:spPr>
          <a:xfrm>
            <a:off x="3520440" y="2148840"/>
            <a:ext cx="2514600" cy="1417320"/>
          </a:xfrm>
          <a:prstGeom prst="roundRect">
            <a:avLst>
              <a:gd name="adj" fmla="val 3871"/>
            </a:avLst>
          </a:prstGeom>
          <a:solidFill>
            <a:srgbClr val="13242E"/>
          </a:solidFill>
          <a:ln w="12700">
            <a:solidFill>
              <a:srgbClr val="34515E">
                <a:alpha val="92000"/>
              </a:srgbClr>
            </a:solidFill>
            <a:prstDash val="solid"/>
          </a:ln>
        </p:spPr>
      </p:sp>
      <p:sp>
        <p:nvSpPr>
          <p:cNvPr id="13" name="Shape 11"/>
          <p:cNvSpPr/>
          <p:nvPr/>
        </p:nvSpPr>
        <p:spPr>
          <a:xfrm>
            <a:off x="3520440" y="2148840"/>
            <a:ext cx="59436" cy="1417320"/>
          </a:xfrm>
          <a:prstGeom prst="rect">
            <a:avLst/>
          </a:prstGeom>
          <a:solidFill>
            <a:srgbClr val="77E08F"/>
          </a:solidFill>
          <a:ln w="12700">
            <a:solidFill>
              <a:srgbClr val="77E08F"/>
            </a:solidFill>
            <a:prstDash val="solid"/>
          </a:ln>
        </p:spPr>
      </p:sp>
      <p:sp>
        <p:nvSpPr>
          <p:cNvPr id="14" name="Text 12"/>
          <p:cNvSpPr/>
          <p:nvPr/>
        </p:nvSpPr>
        <p:spPr>
          <a:xfrm>
            <a:off x="3685032" y="2295144"/>
            <a:ext cx="22037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RFID Access</a:t>
            </a:r>
            <a:endParaRPr lang="en-US" sz="1600" dirty="0"/>
          </a:p>
        </p:txBody>
      </p:sp>
      <p:sp>
        <p:nvSpPr>
          <p:cNvPr id="15" name="Text 13"/>
          <p:cNvSpPr/>
          <p:nvPr/>
        </p:nvSpPr>
        <p:spPr>
          <a:xfrm>
            <a:off x="3685032" y="2679192"/>
            <a:ext cx="2203704" cy="758952"/>
          </a:xfrm>
          <a:prstGeom prst="rect">
            <a:avLst/>
          </a:prstGeom>
          <a:noFill/>
          <a:ln/>
        </p:spPr>
        <p:txBody>
          <a:bodyPr wrap="square" lIns="0" tIns="0" rIns="0" bIns="0" rtlCol="0" anchor="ctr">
            <a:normAutofit/>
          </a:bodyPr>
          <a:lstStyle/>
          <a:p>
            <a:pPr indent="0" marL="0">
              <a:buNone/>
            </a:pPr>
            <a:r>
              <a:rPr lang="en-US" sz="1150" dirty="0">
                <a:solidFill>
                  <a:srgbClr val="A8B9C2"/>
                </a:solidFill>
              </a:rPr>
              <a:t>Kartu RFID dipakai untuk validasi kendaraan dan member.</a:t>
            </a:r>
            <a:endParaRPr lang="en-US" sz="1150" dirty="0"/>
          </a:p>
        </p:txBody>
      </p:sp>
      <p:sp>
        <p:nvSpPr>
          <p:cNvPr id="16" name="Shape 14"/>
          <p:cNvSpPr/>
          <p:nvPr/>
        </p:nvSpPr>
        <p:spPr>
          <a:xfrm>
            <a:off x="6309360" y="2148840"/>
            <a:ext cx="2514600" cy="1417320"/>
          </a:xfrm>
          <a:prstGeom prst="roundRect">
            <a:avLst>
              <a:gd name="adj" fmla="val 3871"/>
            </a:avLst>
          </a:prstGeom>
          <a:solidFill>
            <a:srgbClr val="13242E"/>
          </a:solidFill>
          <a:ln w="12700">
            <a:solidFill>
              <a:srgbClr val="34515E">
                <a:alpha val="92000"/>
              </a:srgbClr>
            </a:solidFill>
            <a:prstDash val="solid"/>
          </a:ln>
        </p:spPr>
      </p:sp>
      <p:sp>
        <p:nvSpPr>
          <p:cNvPr id="17" name="Shape 15"/>
          <p:cNvSpPr/>
          <p:nvPr/>
        </p:nvSpPr>
        <p:spPr>
          <a:xfrm>
            <a:off x="6309360" y="2148840"/>
            <a:ext cx="59436" cy="1417320"/>
          </a:xfrm>
          <a:prstGeom prst="rect">
            <a:avLst/>
          </a:prstGeom>
          <a:solidFill>
            <a:srgbClr val="F7C948"/>
          </a:solidFill>
          <a:ln w="12700">
            <a:solidFill>
              <a:srgbClr val="F7C948"/>
            </a:solidFill>
            <a:prstDash val="solid"/>
          </a:ln>
        </p:spPr>
      </p:sp>
      <p:sp>
        <p:nvSpPr>
          <p:cNvPr id="18" name="Text 16"/>
          <p:cNvSpPr/>
          <p:nvPr/>
        </p:nvSpPr>
        <p:spPr>
          <a:xfrm>
            <a:off x="6473952" y="2295144"/>
            <a:ext cx="22037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Digital Wallet</a:t>
            </a:r>
            <a:endParaRPr lang="en-US" sz="1600" dirty="0"/>
          </a:p>
        </p:txBody>
      </p:sp>
      <p:sp>
        <p:nvSpPr>
          <p:cNvPr id="19" name="Text 17"/>
          <p:cNvSpPr/>
          <p:nvPr/>
        </p:nvSpPr>
        <p:spPr>
          <a:xfrm>
            <a:off x="6473952" y="2679192"/>
            <a:ext cx="2203704" cy="758952"/>
          </a:xfrm>
          <a:prstGeom prst="rect">
            <a:avLst/>
          </a:prstGeom>
          <a:noFill/>
          <a:ln/>
        </p:spPr>
        <p:txBody>
          <a:bodyPr wrap="square" lIns="0" tIns="0" rIns="0" bIns="0" rtlCol="0" anchor="ctr">
            <a:normAutofit/>
          </a:bodyPr>
          <a:lstStyle/>
          <a:p>
            <a:pPr indent="0" marL="0">
              <a:buNone/>
            </a:pPr>
            <a:r>
              <a:rPr lang="en-US" sz="1150" dirty="0">
                <a:solidFill>
                  <a:srgbClr val="A8B9C2"/>
                </a:solidFill>
              </a:rPr>
              <a:t>Saldo, top-up, booking, dan biaya parkir dapat tercatat.</a:t>
            </a:r>
            <a:endParaRPr lang="en-US" sz="1150" dirty="0"/>
          </a:p>
        </p:txBody>
      </p:sp>
      <p:sp>
        <p:nvSpPr>
          <p:cNvPr id="20" name="Shape 18"/>
          <p:cNvSpPr/>
          <p:nvPr/>
        </p:nvSpPr>
        <p:spPr>
          <a:xfrm>
            <a:off x="9098280" y="2148840"/>
            <a:ext cx="2331720" cy="1417320"/>
          </a:xfrm>
          <a:prstGeom prst="roundRect">
            <a:avLst>
              <a:gd name="adj" fmla="val 3871"/>
            </a:avLst>
          </a:prstGeom>
          <a:solidFill>
            <a:srgbClr val="13242E"/>
          </a:solidFill>
          <a:ln w="12700">
            <a:solidFill>
              <a:srgbClr val="34515E">
                <a:alpha val="92000"/>
              </a:srgbClr>
            </a:solidFill>
            <a:prstDash val="solid"/>
          </a:ln>
        </p:spPr>
      </p:sp>
      <p:sp>
        <p:nvSpPr>
          <p:cNvPr id="21" name="Shape 19"/>
          <p:cNvSpPr/>
          <p:nvPr/>
        </p:nvSpPr>
        <p:spPr>
          <a:xfrm>
            <a:off x="9098280" y="2148840"/>
            <a:ext cx="59436" cy="1417320"/>
          </a:xfrm>
          <a:prstGeom prst="rect">
            <a:avLst/>
          </a:prstGeom>
          <a:solidFill>
            <a:srgbClr val="FF7A7A"/>
          </a:solidFill>
          <a:ln w="12700">
            <a:solidFill>
              <a:srgbClr val="FF7A7A"/>
            </a:solidFill>
            <a:prstDash val="solid"/>
          </a:ln>
        </p:spPr>
      </p:sp>
      <p:sp>
        <p:nvSpPr>
          <p:cNvPr id="22" name="Text 20"/>
          <p:cNvSpPr/>
          <p:nvPr/>
        </p:nvSpPr>
        <p:spPr>
          <a:xfrm>
            <a:off x="9262872" y="2295144"/>
            <a:ext cx="202082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Admin Control</a:t>
            </a:r>
            <a:endParaRPr lang="en-US" sz="1600" dirty="0"/>
          </a:p>
        </p:txBody>
      </p:sp>
      <p:sp>
        <p:nvSpPr>
          <p:cNvPr id="23" name="Text 21"/>
          <p:cNvSpPr/>
          <p:nvPr/>
        </p:nvSpPr>
        <p:spPr>
          <a:xfrm>
            <a:off x="9262872" y="2679192"/>
            <a:ext cx="2020824" cy="758952"/>
          </a:xfrm>
          <a:prstGeom prst="rect">
            <a:avLst/>
          </a:prstGeom>
          <a:noFill/>
          <a:ln/>
        </p:spPr>
        <p:txBody>
          <a:bodyPr wrap="square" lIns="0" tIns="0" rIns="0" bIns="0" rtlCol="0" anchor="ctr">
            <a:normAutofit/>
          </a:bodyPr>
          <a:lstStyle/>
          <a:p>
            <a:pPr indent="0" marL="0">
              <a:buNone/>
            </a:pPr>
            <a:r>
              <a:rPr lang="en-US" sz="1150" dirty="0">
                <a:solidFill>
                  <a:srgbClr val="A8B9C2"/>
                </a:solidFill>
              </a:rPr>
              <a:t>Admin memantau transaksi, pengguna, gate, chat, dan analytics.</a:t>
            </a:r>
            <a:endParaRPr lang="en-US" sz="1150" dirty="0"/>
          </a:p>
        </p:txBody>
      </p:sp>
      <p:sp>
        <p:nvSpPr>
          <p:cNvPr id="24" name="Text 22"/>
          <p:cNvSpPr/>
          <p:nvPr/>
        </p:nvSpPr>
        <p:spPr>
          <a:xfrm>
            <a:off x="1143000" y="4663440"/>
            <a:ext cx="9875520" cy="411480"/>
          </a:xfrm>
          <a:prstGeom prst="rect">
            <a:avLst/>
          </a:prstGeom>
          <a:noFill/>
          <a:ln/>
        </p:spPr>
        <p:txBody>
          <a:bodyPr wrap="square" lIns="254" tIns="254" rIns="254" bIns="254" rtlCol="0" anchor="ctr">
            <a:normAutofit/>
          </a:bodyPr>
          <a:lstStyle/>
          <a:p>
            <a:pPr algn="ctr" indent="0" marL="0">
              <a:buNone/>
            </a:pPr>
            <a:r>
              <a:rPr lang="en-US" sz="1800" b="1" dirty="0">
                <a:solidFill>
                  <a:srgbClr val="35D0FF"/>
                </a:solidFill>
              </a:rPr>
              <a:t>Solusi utama: pengguna lebih cepat menemukan slot, sedangkan admin mendapatkan data parkir yang lebih rapi.</a:t>
            </a:r>
            <a:endParaRPr lang="en-US" sz="1800" dirty="0"/>
          </a:p>
        </p:txBody>
      </p:sp>
      <p:sp>
        <p:nvSpPr>
          <p:cNvPr id="26" name="Text 23"/>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03 - Tujuan dan Solusi</a:t>
            </a:r>
            <a:endParaRPr lang="en-US" sz="850" dirty="0"/>
          </a:p>
        </p:txBody>
      </p:sp>
      <p:sp>
        <p:nvSpPr>
          <p:cNvPr id="27" name="Text 24"/>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1:00</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CARA KERJA</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Alur sistem dari kendaraan masuk sampai keluar parkir.</a:t>
            </a:r>
            <a:endParaRPr lang="en-US" sz="3200" dirty="0"/>
          </a:p>
        </p:txBody>
      </p:sp>
      <p:sp>
        <p:nvSpPr>
          <p:cNvPr id="7" name="Shape 5"/>
          <p:cNvSpPr/>
          <p:nvPr/>
        </p:nvSpPr>
        <p:spPr>
          <a:xfrm>
            <a:off x="438912" y="1600200"/>
            <a:ext cx="1993392" cy="2377440"/>
          </a:xfrm>
          <a:prstGeom prst="roundRect">
            <a:avLst>
              <a:gd name="adj" fmla="val 2752"/>
            </a:avLst>
          </a:prstGeom>
          <a:solidFill>
            <a:srgbClr val="13242E"/>
          </a:solidFill>
          <a:ln w="12700">
            <a:solidFill>
              <a:srgbClr val="34515E">
                <a:alpha val="92000"/>
              </a:srgbClr>
            </a:solidFill>
            <a:prstDash val="solid"/>
          </a:ln>
        </p:spPr>
      </p:sp>
      <p:sp>
        <p:nvSpPr>
          <p:cNvPr id="8" name="Shape 6"/>
          <p:cNvSpPr/>
          <p:nvPr/>
        </p:nvSpPr>
        <p:spPr>
          <a:xfrm>
            <a:off x="438912" y="1600200"/>
            <a:ext cx="59436" cy="2377440"/>
          </a:xfrm>
          <a:prstGeom prst="rect">
            <a:avLst/>
          </a:prstGeom>
          <a:solidFill>
            <a:srgbClr val="35D0FF"/>
          </a:solidFill>
          <a:ln w="12700">
            <a:solidFill>
              <a:srgbClr val="35D0FF"/>
            </a:solidFill>
            <a:prstDash val="solid"/>
          </a:ln>
        </p:spPr>
      </p:sp>
      <p:sp>
        <p:nvSpPr>
          <p:cNvPr id="9" name="Text 7"/>
          <p:cNvSpPr/>
          <p:nvPr/>
        </p:nvSpPr>
        <p:spPr>
          <a:xfrm>
            <a:off x="603504" y="1746504"/>
            <a:ext cx="1682496"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1. Login</a:t>
            </a:r>
            <a:endParaRPr lang="en-US" sz="1600" dirty="0"/>
          </a:p>
        </p:txBody>
      </p:sp>
      <p:sp>
        <p:nvSpPr>
          <p:cNvPr id="10" name="Text 8"/>
          <p:cNvSpPr/>
          <p:nvPr/>
        </p:nvSpPr>
        <p:spPr>
          <a:xfrm>
            <a:off x="603504" y="2130552"/>
            <a:ext cx="1682496" cy="1719072"/>
          </a:xfrm>
          <a:prstGeom prst="rect">
            <a:avLst/>
          </a:prstGeom>
          <a:noFill/>
          <a:ln/>
        </p:spPr>
        <p:txBody>
          <a:bodyPr wrap="square" lIns="0" tIns="0" rIns="0" bIns="0" rtlCol="0" anchor="ctr">
            <a:normAutofit/>
          </a:bodyPr>
          <a:lstStyle/>
          <a:p>
            <a:pPr indent="0" marL="0">
              <a:buNone/>
            </a:pPr>
            <a:r>
              <a:rPr lang="en-US" sz="1150" dirty="0">
                <a:solidFill>
                  <a:srgbClr val="A8B9C2"/>
                </a:solidFill>
              </a:rPr>
              <a:t>Pengguna masuk ke portal client atau daftar kendaraan.</a:t>
            </a:r>
            <a:endParaRPr lang="en-US" sz="1150" dirty="0"/>
          </a:p>
        </p:txBody>
      </p:sp>
      <p:sp>
        <p:nvSpPr>
          <p:cNvPr id="11" name="Shape 9"/>
          <p:cNvSpPr/>
          <p:nvPr/>
        </p:nvSpPr>
        <p:spPr>
          <a:xfrm>
            <a:off x="2706624" y="1600200"/>
            <a:ext cx="1993392" cy="2377440"/>
          </a:xfrm>
          <a:prstGeom prst="roundRect">
            <a:avLst>
              <a:gd name="adj" fmla="val 2752"/>
            </a:avLst>
          </a:prstGeom>
          <a:solidFill>
            <a:srgbClr val="13242E"/>
          </a:solidFill>
          <a:ln w="12700">
            <a:solidFill>
              <a:srgbClr val="34515E">
                <a:alpha val="92000"/>
              </a:srgbClr>
            </a:solidFill>
            <a:prstDash val="solid"/>
          </a:ln>
        </p:spPr>
      </p:sp>
      <p:sp>
        <p:nvSpPr>
          <p:cNvPr id="12" name="Shape 10"/>
          <p:cNvSpPr/>
          <p:nvPr/>
        </p:nvSpPr>
        <p:spPr>
          <a:xfrm>
            <a:off x="2706624" y="1600200"/>
            <a:ext cx="59436" cy="2377440"/>
          </a:xfrm>
          <a:prstGeom prst="rect">
            <a:avLst/>
          </a:prstGeom>
          <a:solidFill>
            <a:srgbClr val="77E08F"/>
          </a:solidFill>
          <a:ln w="12700">
            <a:solidFill>
              <a:srgbClr val="77E08F"/>
            </a:solidFill>
            <a:prstDash val="solid"/>
          </a:ln>
        </p:spPr>
      </p:sp>
      <p:sp>
        <p:nvSpPr>
          <p:cNvPr id="13" name="Text 11"/>
          <p:cNvSpPr/>
          <p:nvPr/>
        </p:nvSpPr>
        <p:spPr>
          <a:xfrm>
            <a:off x="2871216" y="1746504"/>
            <a:ext cx="1682496"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2. Cek Slot</a:t>
            </a:r>
            <a:endParaRPr lang="en-US" sz="1600" dirty="0"/>
          </a:p>
        </p:txBody>
      </p:sp>
      <p:sp>
        <p:nvSpPr>
          <p:cNvPr id="14" name="Text 12"/>
          <p:cNvSpPr/>
          <p:nvPr/>
        </p:nvSpPr>
        <p:spPr>
          <a:xfrm>
            <a:off x="2871216" y="2130552"/>
            <a:ext cx="1682496" cy="1719072"/>
          </a:xfrm>
          <a:prstGeom prst="rect">
            <a:avLst/>
          </a:prstGeom>
          <a:noFill/>
          <a:ln/>
        </p:spPr>
        <p:txBody>
          <a:bodyPr wrap="square" lIns="0" tIns="0" rIns="0" bIns="0" rtlCol="0" anchor="ctr">
            <a:normAutofit/>
          </a:bodyPr>
          <a:lstStyle/>
          <a:p>
            <a:pPr indent="0" marL="0">
              <a:buNone/>
            </a:pPr>
            <a:r>
              <a:rPr lang="en-US" sz="1150" dirty="0">
                <a:solidFill>
                  <a:srgbClr val="A8B9C2"/>
                </a:solidFill>
              </a:rPr>
              <a:t>Dashboard menampilkan slot kosong dan status parkir.</a:t>
            </a:r>
            <a:endParaRPr lang="en-US" sz="1150" dirty="0"/>
          </a:p>
        </p:txBody>
      </p:sp>
      <p:sp>
        <p:nvSpPr>
          <p:cNvPr id="15" name="Shape 13"/>
          <p:cNvSpPr/>
          <p:nvPr/>
        </p:nvSpPr>
        <p:spPr>
          <a:xfrm>
            <a:off x="4974336" y="1600200"/>
            <a:ext cx="1993392" cy="2377440"/>
          </a:xfrm>
          <a:prstGeom prst="roundRect">
            <a:avLst>
              <a:gd name="adj" fmla="val 2752"/>
            </a:avLst>
          </a:prstGeom>
          <a:solidFill>
            <a:srgbClr val="13242E"/>
          </a:solidFill>
          <a:ln w="12700">
            <a:solidFill>
              <a:srgbClr val="34515E">
                <a:alpha val="92000"/>
              </a:srgbClr>
            </a:solidFill>
            <a:prstDash val="solid"/>
          </a:ln>
        </p:spPr>
      </p:sp>
      <p:sp>
        <p:nvSpPr>
          <p:cNvPr id="16" name="Shape 14"/>
          <p:cNvSpPr/>
          <p:nvPr/>
        </p:nvSpPr>
        <p:spPr>
          <a:xfrm>
            <a:off x="4974336" y="1600200"/>
            <a:ext cx="59436" cy="2377440"/>
          </a:xfrm>
          <a:prstGeom prst="rect">
            <a:avLst/>
          </a:prstGeom>
          <a:solidFill>
            <a:srgbClr val="35D0FF"/>
          </a:solidFill>
          <a:ln w="12700">
            <a:solidFill>
              <a:srgbClr val="35D0FF"/>
            </a:solidFill>
            <a:prstDash val="solid"/>
          </a:ln>
        </p:spPr>
      </p:sp>
      <p:sp>
        <p:nvSpPr>
          <p:cNvPr id="17" name="Text 15"/>
          <p:cNvSpPr/>
          <p:nvPr/>
        </p:nvSpPr>
        <p:spPr>
          <a:xfrm>
            <a:off x="5138928" y="1746504"/>
            <a:ext cx="1682496"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3. Scan RFID</a:t>
            </a:r>
            <a:endParaRPr lang="en-US" sz="1600" dirty="0"/>
          </a:p>
        </p:txBody>
      </p:sp>
      <p:sp>
        <p:nvSpPr>
          <p:cNvPr id="18" name="Text 16"/>
          <p:cNvSpPr/>
          <p:nvPr/>
        </p:nvSpPr>
        <p:spPr>
          <a:xfrm>
            <a:off x="5138928" y="2130552"/>
            <a:ext cx="1682496" cy="1719072"/>
          </a:xfrm>
          <a:prstGeom prst="rect">
            <a:avLst/>
          </a:prstGeom>
          <a:noFill/>
          <a:ln/>
        </p:spPr>
        <p:txBody>
          <a:bodyPr wrap="square" lIns="0" tIns="0" rIns="0" bIns="0" rtlCol="0" anchor="ctr">
            <a:normAutofit/>
          </a:bodyPr>
          <a:lstStyle/>
          <a:p>
            <a:pPr indent="0" marL="0">
              <a:buNone/>
            </a:pPr>
            <a:r>
              <a:rPr lang="en-US" sz="1150" dirty="0">
                <a:solidFill>
                  <a:srgbClr val="A8B9C2"/>
                </a:solidFill>
              </a:rPr>
              <a:t>UID kartu dikirim ESP32 ke server untuk dicek.</a:t>
            </a:r>
            <a:endParaRPr lang="en-US" sz="1150" dirty="0"/>
          </a:p>
        </p:txBody>
      </p:sp>
      <p:sp>
        <p:nvSpPr>
          <p:cNvPr id="19" name="Shape 17"/>
          <p:cNvSpPr/>
          <p:nvPr/>
        </p:nvSpPr>
        <p:spPr>
          <a:xfrm>
            <a:off x="7242048" y="1600200"/>
            <a:ext cx="1993392" cy="2377440"/>
          </a:xfrm>
          <a:prstGeom prst="roundRect">
            <a:avLst>
              <a:gd name="adj" fmla="val 2752"/>
            </a:avLst>
          </a:prstGeom>
          <a:solidFill>
            <a:srgbClr val="13242E"/>
          </a:solidFill>
          <a:ln w="12700">
            <a:solidFill>
              <a:srgbClr val="34515E">
                <a:alpha val="92000"/>
              </a:srgbClr>
            </a:solidFill>
            <a:prstDash val="solid"/>
          </a:ln>
        </p:spPr>
      </p:sp>
      <p:sp>
        <p:nvSpPr>
          <p:cNvPr id="20" name="Shape 18"/>
          <p:cNvSpPr/>
          <p:nvPr/>
        </p:nvSpPr>
        <p:spPr>
          <a:xfrm>
            <a:off x="7242048" y="1600200"/>
            <a:ext cx="59436" cy="2377440"/>
          </a:xfrm>
          <a:prstGeom prst="rect">
            <a:avLst/>
          </a:prstGeom>
          <a:solidFill>
            <a:srgbClr val="77E08F"/>
          </a:solidFill>
          <a:ln w="12700">
            <a:solidFill>
              <a:srgbClr val="77E08F"/>
            </a:solidFill>
            <a:prstDash val="solid"/>
          </a:ln>
        </p:spPr>
      </p:sp>
      <p:sp>
        <p:nvSpPr>
          <p:cNvPr id="21" name="Text 19"/>
          <p:cNvSpPr/>
          <p:nvPr/>
        </p:nvSpPr>
        <p:spPr>
          <a:xfrm>
            <a:off x="7406640" y="1746504"/>
            <a:ext cx="1682496"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4. Sensor</a:t>
            </a:r>
            <a:endParaRPr lang="en-US" sz="1600" dirty="0"/>
          </a:p>
        </p:txBody>
      </p:sp>
      <p:sp>
        <p:nvSpPr>
          <p:cNvPr id="22" name="Text 20"/>
          <p:cNvSpPr/>
          <p:nvPr/>
        </p:nvSpPr>
        <p:spPr>
          <a:xfrm>
            <a:off x="7406640" y="2130552"/>
            <a:ext cx="1682496" cy="1719072"/>
          </a:xfrm>
          <a:prstGeom prst="rect">
            <a:avLst/>
          </a:prstGeom>
          <a:noFill/>
          <a:ln/>
        </p:spPr>
        <p:txBody>
          <a:bodyPr wrap="square" lIns="0" tIns="0" rIns="0" bIns="0" rtlCol="0" anchor="ctr">
            <a:normAutofit/>
          </a:bodyPr>
          <a:lstStyle/>
          <a:p>
            <a:pPr indent="0" marL="0">
              <a:buNone/>
            </a:pPr>
            <a:r>
              <a:rPr lang="en-US" sz="1150" dirty="0">
                <a:solidFill>
                  <a:srgbClr val="A8B9C2"/>
                </a:solidFill>
              </a:rPr>
              <a:t>Ultrasonik membaca kendaraan dan update status slot.</a:t>
            </a:r>
            <a:endParaRPr lang="en-US" sz="1150" dirty="0"/>
          </a:p>
        </p:txBody>
      </p:sp>
      <p:sp>
        <p:nvSpPr>
          <p:cNvPr id="23" name="Shape 21"/>
          <p:cNvSpPr/>
          <p:nvPr/>
        </p:nvSpPr>
        <p:spPr>
          <a:xfrm>
            <a:off x="9509760" y="1600200"/>
            <a:ext cx="1993392" cy="2377440"/>
          </a:xfrm>
          <a:prstGeom prst="roundRect">
            <a:avLst>
              <a:gd name="adj" fmla="val 2752"/>
            </a:avLst>
          </a:prstGeom>
          <a:solidFill>
            <a:srgbClr val="13242E"/>
          </a:solidFill>
          <a:ln w="12700">
            <a:solidFill>
              <a:srgbClr val="34515E">
                <a:alpha val="92000"/>
              </a:srgbClr>
            </a:solidFill>
            <a:prstDash val="solid"/>
          </a:ln>
        </p:spPr>
      </p:sp>
      <p:sp>
        <p:nvSpPr>
          <p:cNvPr id="24" name="Shape 22"/>
          <p:cNvSpPr/>
          <p:nvPr/>
        </p:nvSpPr>
        <p:spPr>
          <a:xfrm>
            <a:off x="9509760" y="1600200"/>
            <a:ext cx="59436" cy="2377440"/>
          </a:xfrm>
          <a:prstGeom prst="rect">
            <a:avLst/>
          </a:prstGeom>
          <a:solidFill>
            <a:srgbClr val="35D0FF"/>
          </a:solidFill>
          <a:ln w="12700">
            <a:solidFill>
              <a:srgbClr val="35D0FF"/>
            </a:solidFill>
            <a:prstDash val="solid"/>
          </a:ln>
        </p:spPr>
      </p:sp>
      <p:sp>
        <p:nvSpPr>
          <p:cNvPr id="25" name="Text 23"/>
          <p:cNvSpPr/>
          <p:nvPr/>
        </p:nvSpPr>
        <p:spPr>
          <a:xfrm>
            <a:off x="9674352" y="1746504"/>
            <a:ext cx="1682496"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5. Keluar</a:t>
            </a:r>
            <a:endParaRPr lang="en-US" sz="1600" dirty="0"/>
          </a:p>
        </p:txBody>
      </p:sp>
      <p:sp>
        <p:nvSpPr>
          <p:cNvPr id="26" name="Text 24"/>
          <p:cNvSpPr/>
          <p:nvPr/>
        </p:nvSpPr>
        <p:spPr>
          <a:xfrm>
            <a:off x="9674352" y="2130552"/>
            <a:ext cx="1682496" cy="1719072"/>
          </a:xfrm>
          <a:prstGeom prst="rect">
            <a:avLst/>
          </a:prstGeom>
          <a:noFill/>
          <a:ln/>
        </p:spPr>
        <p:txBody>
          <a:bodyPr wrap="square" lIns="0" tIns="0" rIns="0" bIns="0" rtlCol="0" anchor="ctr">
            <a:normAutofit/>
          </a:bodyPr>
          <a:lstStyle/>
          <a:p>
            <a:pPr indent="0" marL="0">
              <a:buNone/>
            </a:pPr>
            <a:r>
              <a:rPr lang="en-US" sz="1150" dirty="0">
                <a:solidFill>
                  <a:srgbClr val="A8B9C2"/>
                </a:solidFill>
              </a:rPr>
              <a:t>Biaya dihitung, riwayat tersimpan, dan struk bisa dicetak.</a:t>
            </a:r>
            <a:endParaRPr lang="en-US" sz="1150" dirty="0"/>
          </a:p>
        </p:txBody>
      </p:sp>
      <p:sp>
        <p:nvSpPr>
          <p:cNvPr id="27" name="Text 25"/>
          <p:cNvSpPr/>
          <p:nvPr/>
        </p:nvSpPr>
        <p:spPr>
          <a:xfrm>
            <a:off x="1234440" y="4617720"/>
            <a:ext cx="9738360" cy="411480"/>
          </a:xfrm>
          <a:prstGeom prst="rect">
            <a:avLst/>
          </a:prstGeom>
          <a:noFill/>
          <a:ln/>
        </p:spPr>
        <p:txBody>
          <a:bodyPr wrap="square" lIns="254" tIns="254" rIns="254" bIns="254" rtlCol="0" anchor="ctr">
            <a:normAutofit/>
          </a:bodyPr>
          <a:lstStyle/>
          <a:p>
            <a:pPr algn="ctr" indent="0" marL="0">
              <a:buNone/>
            </a:pPr>
            <a:r>
              <a:rPr lang="en-US" sz="1800" b="1" dirty="0">
                <a:solidFill>
                  <a:srgbClr val="F7C948"/>
                </a:solidFill>
              </a:rPr>
              <a:t>Data mengalir dari hardware ke server, lalu ditampilkan di dashboard client dan admin.</a:t>
            </a:r>
            <a:endParaRPr lang="en-US" sz="1800" dirty="0"/>
          </a:p>
        </p:txBody>
      </p:sp>
      <p:sp>
        <p:nvSpPr>
          <p:cNvPr id="29" name="Text 26"/>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04 - Cara Kerja</a:t>
            </a:r>
            <a:endParaRPr lang="en-US" sz="850" dirty="0"/>
          </a:p>
        </p:txBody>
      </p:sp>
      <p:sp>
        <p:nvSpPr>
          <p:cNvPr id="30" name="Text 27"/>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1:05</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FITUR UTAMA</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Fitur yang sudah dibuat dalam prototype SpotFinder.</a:t>
            </a:r>
            <a:endParaRPr lang="en-US" sz="3200" dirty="0"/>
          </a:p>
        </p:txBody>
      </p:sp>
      <p:sp>
        <p:nvSpPr>
          <p:cNvPr id="7" name="Shape 5"/>
          <p:cNvSpPr/>
          <p:nvPr/>
        </p:nvSpPr>
        <p:spPr>
          <a:xfrm>
            <a:off x="65836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8" name="Shape 6"/>
          <p:cNvSpPr/>
          <p:nvPr/>
        </p:nvSpPr>
        <p:spPr>
          <a:xfrm>
            <a:off x="658368" y="1417320"/>
            <a:ext cx="59436" cy="1325880"/>
          </a:xfrm>
          <a:prstGeom prst="rect">
            <a:avLst/>
          </a:prstGeom>
          <a:solidFill>
            <a:srgbClr val="35D0FF"/>
          </a:solidFill>
          <a:ln w="12700">
            <a:solidFill>
              <a:srgbClr val="35D0FF"/>
            </a:solidFill>
            <a:prstDash val="solid"/>
          </a:ln>
        </p:spPr>
      </p:sp>
      <p:sp>
        <p:nvSpPr>
          <p:cNvPr id="9" name="Text 7"/>
          <p:cNvSpPr/>
          <p:nvPr/>
        </p:nvSpPr>
        <p:spPr>
          <a:xfrm>
            <a:off x="82296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Client Portal</a:t>
            </a:r>
            <a:endParaRPr lang="en-US" sz="1600" dirty="0"/>
          </a:p>
        </p:txBody>
      </p:sp>
      <p:sp>
        <p:nvSpPr>
          <p:cNvPr id="10" name="Text 8"/>
          <p:cNvSpPr/>
          <p:nvPr/>
        </p:nvSpPr>
        <p:spPr>
          <a:xfrm>
            <a:off x="82296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Login, registrasi, profil, saldo, riwayat, booking, dan chat support.</a:t>
            </a:r>
            <a:endParaRPr lang="en-US" sz="1150" dirty="0"/>
          </a:p>
        </p:txBody>
      </p:sp>
      <p:sp>
        <p:nvSpPr>
          <p:cNvPr id="11" name="Shape 9"/>
          <p:cNvSpPr/>
          <p:nvPr/>
        </p:nvSpPr>
        <p:spPr>
          <a:xfrm>
            <a:off x="427024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12" name="Shape 10"/>
          <p:cNvSpPr/>
          <p:nvPr/>
        </p:nvSpPr>
        <p:spPr>
          <a:xfrm>
            <a:off x="4270248" y="1417320"/>
            <a:ext cx="59436" cy="1325880"/>
          </a:xfrm>
          <a:prstGeom prst="rect">
            <a:avLst/>
          </a:prstGeom>
          <a:solidFill>
            <a:srgbClr val="77E08F"/>
          </a:solidFill>
          <a:ln w="12700">
            <a:solidFill>
              <a:srgbClr val="77E08F"/>
            </a:solidFill>
            <a:prstDash val="solid"/>
          </a:ln>
        </p:spPr>
      </p:sp>
      <p:sp>
        <p:nvSpPr>
          <p:cNvPr id="13" name="Text 11"/>
          <p:cNvSpPr/>
          <p:nvPr/>
        </p:nvSpPr>
        <p:spPr>
          <a:xfrm>
            <a:off x="443484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Admin Dashboard</a:t>
            </a:r>
            <a:endParaRPr lang="en-US" sz="1600" dirty="0"/>
          </a:p>
        </p:txBody>
      </p:sp>
      <p:sp>
        <p:nvSpPr>
          <p:cNvPr id="14" name="Text 12"/>
          <p:cNvSpPr/>
          <p:nvPr/>
        </p:nvSpPr>
        <p:spPr>
          <a:xfrm>
            <a:off x="443484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Pantau slot, okupansi, aktivitas, revenue, analytics, dan gate control.</a:t>
            </a:r>
            <a:endParaRPr lang="en-US" sz="1150" dirty="0"/>
          </a:p>
        </p:txBody>
      </p:sp>
      <p:sp>
        <p:nvSpPr>
          <p:cNvPr id="15" name="Shape 13"/>
          <p:cNvSpPr/>
          <p:nvPr/>
        </p:nvSpPr>
        <p:spPr>
          <a:xfrm>
            <a:off x="788212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16" name="Shape 14"/>
          <p:cNvSpPr/>
          <p:nvPr/>
        </p:nvSpPr>
        <p:spPr>
          <a:xfrm>
            <a:off x="7882128" y="1417320"/>
            <a:ext cx="59436" cy="1325880"/>
          </a:xfrm>
          <a:prstGeom prst="rect">
            <a:avLst/>
          </a:prstGeom>
          <a:solidFill>
            <a:srgbClr val="F7C948"/>
          </a:solidFill>
          <a:ln w="12700">
            <a:solidFill>
              <a:srgbClr val="F7C948"/>
            </a:solidFill>
            <a:prstDash val="solid"/>
          </a:ln>
        </p:spPr>
      </p:sp>
      <p:sp>
        <p:nvSpPr>
          <p:cNvPr id="17" name="Text 15"/>
          <p:cNvSpPr/>
          <p:nvPr/>
        </p:nvSpPr>
        <p:spPr>
          <a:xfrm>
            <a:off x="804672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RFID &amp; Wallet</a:t>
            </a:r>
            <a:endParaRPr lang="en-US" sz="1600" dirty="0"/>
          </a:p>
        </p:txBody>
      </p:sp>
      <p:sp>
        <p:nvSpPr>
          <p:cNvPr id="18" name="Text 16"/>
          <p:cNvSpPr/>
          <p:nvPr/>
        </p:nvSpPr>
        <p:spPr>
          <a:xfrm>
            <a:off x="804672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Member dapat masuk dengan RFID dan saldo parkir tercatat otomatis.</a:t>
            </a:r>
            <a:endParaRPr lang="en-US" sz="1150" dirty="0"/>
          </a:p>
        </p:txBody>
      </p:sp>
      <p:sp>
        <p:nvSpPr>
          <p:cNvPr id="19" name="Shape 17"/>
          <p:cNvSpPr/>
          <p:nvPr/>
        </p:nvSpPr>
        <p:spPr>
          <a:xfrm>
            <a:off x="65836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0" name="Shape 18"/>
          <p:cNvSpPr/>
          <p:nvPr/>
        </p:nvSpPr>
        <p:spPr>
          <a:xfrm>
            <a:off x="658368" y="3108960"/>
            <a:ext cx="59436" cy="1325880"/>
          </a:xfrm>
          <a:prstGeom prst="rect">
            <a:avLst/>
          </a:prstGeom>
          <a:solidFill>
            <a:srgbClr val="35D0FF"/>
          </a:solidFill>
          <a:ln w="12700">
            <a:solidFill>
              <a:srgbClr val="35D0FF"/>
            </a:solidFill>
            <a:prstDash val="solid"/>
          </a:ln>
        </p:spPr>
      </p:sp>
      <p:sp>
        <p:nvSpPr>
          <p:cNvPr id="21" name="Text 19"/>
          <p:cNvSpPr/>
          <p:nvPr/>
        </p:nvSpPr>
        <p:spPr>
          <a:xfrm>
            <a:off x="82296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Booking Slot</a:t>
            </a:r>
            <a:endParaRPr lang="en-US" sz="1600" dirty="0"/>
          </a:p>
        </p:txBody>
      </p:sp>
      <p:sp>
        <p:nvSpPr>
          <p:cNvPr id="22" name="Text 20"/>
          <p:cNvSpPr/>
          <p:nvPr/>
        </p:nvSpPr>
        <p:spPr>
          <a:xfrm>
            <a:off x="82296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Pengguna bisa memesan slot kosong dengan biaya booking.</a:t>
            </a:r>
            <a:endParaRPr lang="en-US" sz="1150" dirty="0"/>
          </a:p>
        </p:txBody>
      </p:sp>
      <p:sp>
        <p:nvSpPr>
          <p:cNvPr id="23" name="Shape 21"/>
          <p:cNvSpPr/>
          <p:nvPr/>
        </p:nvSpPr>
        <p:spPr>
          <a:xfrm>
            <a:off x="427024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4" name="Shape 22"/>
          <p:cNvSpPr/>
          <p:nvPr/>
        </p:nvSpPr>
        <p:spPr>
          <a:xfrm>
            <a:off x="4270248" y="3108960"/>
            <a:ext cx="59436" cy="1325880"/>
          </a:xfrm>
          <a:prstGeom prst="rect">
            <a:avLst/>
          </a:prstGeom>
          <a:solidFill>
            <a:srgbClr val="77E08F"/>
          </a:solidFill>
          <a:ln w="12700">
            <a:solidFill>
              <a:srgbClr val="77E08F"/>
            </a:solidFill>
            <a:prstDash val="solid"/>
          </a:ln>
        </p:spPr>
      </p:sp>
      <p:sp>
        <p:nvSpPr>
          <p:cNvPr id="25" name="Text 23"/>
          <p:cNvSpPr/>
          <p:nvPr/>
        </p:nvSpPr>
        <p:spPr>
          <a:xfrm>
            <a:off x="443484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AI Voice</a:t>
            </a:r>
            <a:endParaRPr lang="en-US" sz="1600" dirty="0"/>
          </a:p>
        </p:txBody>
      </p:sp>
      <p:sp>
        <p:nvSpPr>
          <p:cNvPr id="26" name="Text 24"/>
          <p:cNvSpPr/>
          <p:nvPr/>
        </p:nvSpPr>
        <p:spPr>
          <a:xfrm>
            <a:off x="443484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Notifikasi suara untuk welcome, goodbye, dan status sistem.</a:t>
            </a:r>
            <a:endParaRPr lang="en-US" sz="1150" dirty="0"/>
          </a:p>
        </p:txBody>
      </p:sp>
      <p:sp>
        <p:nvSpPr>
          <p:cNvPr id="27" name="Shape 25"/>
          <p:cNvSpPr/>
          <p:nvPr/>
        </p:nvSpPr>
        <p:spPr>
          <a:xfrm>
            <a:off x="788212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8" name="Shape 26"/>
          <p:cNvSpPr/>
          <p:nvPr/>
        </p:nvSpPr>
        <p:spPr>
          <a:xfrm>
            <a:off x="7882128" y="3108960"/>
            <a:ext cx="59436" cy="1325880"/>
          </a:xfrm>
          <a:prstGeom prst="rect">
            <a:avLst/>
          </a:prstGeom>
          <a:solidFill>
            <a:srgbClr val="F7C948"/>
          </a:solidFill>
          <a:ln w="12700">
            <a:solidFill>
              <a:srgbClr val="F7C948"/>
            </a:solidFill>
            <a:prstDash val="solid"/>
          </a:ln>
        </p:spPr>
      </p:sp>
      <p:sp>
        <p:nvSpPr>
          <p:cNvPr id="29" name="Text 27"/>
          <p:cNvSpPr/>
          <p:nvPr/>
        </p:nvSpPr>
        <p:spPr>
          <a:xfrm>
            <a:off x="804672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Report &amp; Receipt</a:t>
            </a:r>
            <a:endParaRPr lang="en-US" sz="1600" dirty="0"/>
          </a:p>
        </p:txBody>
      </p:sp>
      <p:sp>
        <p:nvSpPr>
          <p:cNvPr id="30" name="Text 28"/>
          <p:cNvSpPr/>
          <p:nvPr/>
        </p:nvSpPr>
        <p:spPr>
          <a:xfrm>
            <a:off x="804672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Riwayat transaksi, cetak struk, dan laporan operasional.</a:t>
            </a:r>
            <a:endParaRPr lang="en-US" sz="1150" dirty="0"/>
          </a:p>
        </p:txBody>
      </p:sp>
      <p:sp>
        <p:nvSpPr>
          <p:cNvPr id="32" name="Text 29"/>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05 - Fitur Utama</a:t>
            </a:r>
            <a:endParaRPr lang="en-US" sz="850" dirty="0"/>
          </a:p>
        </p:txBody>
      </p:sp>
      <p:sp>
        <p:nvSpPr>
          <p:cNvPr id="33" name="Text 30"/>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1:00</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TEKNOLOGI DAN ALASAN</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Teknologi dipilih karena sesuai kebutuhan web, IoT, dan AI.</a:t>
            </a:r>
            <a:endParaRPr lang="en-US" sz="3200" dirty="0"/>
          </a:p>
        </p:txBody>
      </p:sp>
      <p:sp>
        <p:nvSpPr>
          <p:cNvPr id="7" name="Shape 5"/>
          <p:cNvSpPr/>
          <p:nvPr/>
        </p:nvSpPr>
        <p:spPr>
          <a:xfrm>
            <a:off x="658368" y="1298448"/>
            <a:ext cx="4709160" cy="1060704"/>
          </a:xfrm>
          <a:prstGeom prst="roundRect">
            <a:avLst>
              <a:gd name="adj" fmla="val 5172"/>
            </a:avLst>
          </a:prstGeom>
          <a:solidFill>
            <a:srgbClr val="13242E"/>
          </a:solidFill>
          <a:ln w="12700">
            <a:solidFill>
              <a:srgbClr val="34515E">
                <a:alpha val="92000"/>
              </a:srgbClr>
            </a:solidFill>
            <a:prstDash val="solid"/>
          </a:ln>
        </p:spPr>
      </p:sp>
      <p:sp>
        <p:nvSpPr>
          <p:cNvPr id="8" name="Shape 6"/>
          <p:cNvSpPr/>
          <p:nvPr/>
        </p:nvSpPr>
        <p:spPr>
          <a:xfrm>
            <a:off x="658368" y="1298448"/>
            <a:ext cx="59436" cy="1060704"/>
          </a:xfrm>
          <a:prstGeom prst="rect">
            <a:avLst/>
          </a:prstGeom>
          <a:solidFill>
            <a:srgbClr val="35D0FF"/>
          </a:solidFill>
          <a:ln w="12700">
            <a:solidFill>
              <a:srgbClr val="35D0FF"/>
            </a:solidFill>
            <a:prstDash val="solid"/>
          </a:ln>
        </p:spPr>
      </p:sp>
      <p:sp>
        <p:nvSpPr>
          <p:cNvPr id="9" name="Text 7"/>
          <p:cNvSpPr/>
          <p:nvPr/>
        </p:nvSpPr>
        <p:spPr>
          <a:xfrm>
            <a:off x="822960" y="144475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PHP + MySQL</a:t>
            </a:r>
            <a:endParaRPr lang="en-US" sz="1600" dirty="0"/>
          </a:p>
        </p:txBody>
      </p:sp>
      <p:sp>
        <p:nvSpPr>
          <p:cNvPr id="10" name="Text 8"/>
          <p:cNvSpPr/>
          <p:nvPr/>
        </p:nvSpPr>
        <p:spPr>
          <a:xfrm>
            <a:off x="822960" y="182880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Dipilih karena ringan untuk web lokal, mudah dihubungkan ke database, dan cocok dengan XAMPP.</a:t>
            </a:r>
            <a:endParaRPr lang="en-US" sz="1070" dirty="0"/>
          </a:p>
        </p:txBody>
      </p:sp>
      <p:sp>
        <p:nvSpPr>
          <p:cNvPr id="11" name="Shape 9"/>
          <p:cNvSpPr/>
          <p:nvPr/>
        </p:nvSpPr>
        <p:spPr>
          <a:xfrm>
            <a:off x="6007608" y="1298448"/>
            <a:ext cx="4709160" cy="1060704"/>
          </a:xfrm>
          <a:prstGeom prst="roundRect">
            <a:avLst>
              <a:gd name="adj" fmla="val 5172"/>
            </a:avLst>
          </a:prstGeom>
          <a:solidFill>
            <a:srgbClr val="13242E"/>
          </a:solidFill>
          <a:ln w="12700">
            <a:solidFill>
              <a:srgbClr val="34515E">
                <a:alpha val="92000"/>
              </a:srgbClr>
            </a:solidFill>
            <a:prstDash val="solid"/>
          </a:ln>
        </p:spPr>
      </p:sp>
      <p:sp>
        <p:nvSpPr>
          <p:cNvPr id="12" name="Shape 10"/>
          <p:cNvSpPr/>
          <p:nvPr/>
        </p:nvSpPr>
        <p:spPr>
          <a:xfrm>
            <a:off x="6007608" y="1298448"/>
            <a:ext cx="59436" cy="1060704"/>
          </a:xfrm>
          <a:prstGeom prst="rect">
            <a:avLst/>
          </a:prstGeom>
          <a:solidFill>
            <a:srgbClr val="77E08F"/>
          </a:solidFill>
          <a:ln w="12700">
            <a:solidFill>
              <a:srgbClr val="77E08F"/>
            </a:solidFill>
            <a:prstDash val="solid"/>
          </a:ln>
        </p:spPr>
      </p:sp>
      <p:sp>
        <p:nvSpPr>
          <p:cNvPr id="13" name="Text 11"/>
          <p:cNvSpPr/>
          <p:nvPr/>
        </p:nvSpPr>
        <p:spPr>
          <a:xfrm>
            <a:off x="6172200" y="144475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HTML, CSS, JS</a:t>
            </a:r>
            <a:endParaRPr lang="en-US" sz="1600" dirty="0"/>
          </a:p>
        </p:txBody>
      </p:sp>
      <p:sp>
        <p:nvSpPr>
          <p:cNvPr id="14" name="Text 12"/>
          <p:cNvSpPr/>
          <p:nvPr/>
        </p:nvSpPr>
        <p:spPr>
          <a:xfrm>
            <a:off x="6172200" y="182880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Digunakan untuk membuat tampilan dashboard yang interaktif dan mudah dibuka di browser.</a:t>
            </a:r>
            <a:endParaRPr lang="en-US" sz="1070" dirty="0"/>
          </a:p>
        </p:txBody>
      </p:sp>
      <p:sp>
        <p:nvSpPr>
          <p:cNvPr id="15" name="Shape 13"/>
          <p:cNvSpPr/>
          <p:nvPr/>
        </p:nvSpPr>
        <p:spPr>
          <a:xfrm>
            <a:off x="658368" y="2715768"/>
            <a:ext cx="4709160" cy="1060704"/>
          </a:xfrm>
          <a:prstGeom prst="roundRect">
            <a:avLst>
              <a:gd name="adj" fmla="val 5172"/>
            </a:avLst>
          </a:prstGeom>
          <a:solidFill>
            <a:srgbClr val="13242E"/>
          </a:solidFill>
          <a:ln w="12700">
            <a:solidFill>
              <a:srgbClr val="34515E">
                <a:alpha val="92000"/>
              </a:srgbClr>
            </a:solidFill>
            <a:prstDash val="solid"/>
          </a:ln>
        </p:spPr>
      </p:sp>
      <p:sp>
        <p:nvSpPr>
          <p:cNvPr id="16" name="Shape 14"/>
          <p:cNvSpPr/>
          <p:nvPr/>
        </p:nvSpPr>
        <p:spPr>
          <a:xfrm>
            <a:off x="658368" y="2715768"/>
            <a:ext cx="59436" cy="1060704"/>
          </a:xfrm>
          <a:prstGeom prst="rect">
            <a:avLst/>
          </a:prstGeom>
          <a:solidFill>
            <a:srgbClr val="F7C948"/>
          </a:solidFill>
          <a:ln w="12700">
            <a:solidFill>
              <a:srgbClr val="F7C948"/>
            </a:solidFill>
            <a:prstDash val="solid"/>
          </a:ln>
        </p:spPr>
      </p:sp>
      <p:sp>
        <p:nvSpPr>
          <p:cNvPr id="17" name="Text 15"/>
          <p:cNvSpPr/>
          <p:nvPr/>
        </p:nvSpPr>
        <p:spPr>
          <a:xfrm>
            <a:off x="822960" y="286207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ESP32 WiFi</a:t>
            </a:r>
            <a:endParaRPr lang="en-US" sz="1600" dirty="0"/>
          </a:p>
        </p:txBody>
      </p:sp>
      <p:sp>
        <p:nvSpPr>
          <p:cNvPr id="18" name="Text 16"/>
          <p:cNvSpPr/>
          <p:nvPr/>
        </p:nvSpPr>
        <p:spPr>
          <a:xfrm>
            <a:off x="822960" y="324612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Dipilih karena sudah memiliki koneksi WiFi sehingga bisa berkomunikasi dengan server.</a:t>
            </a:r>
            <a:endParaRPr lang="en-US" sz="1070" dirty="0"/>
          </a:p>
        </p:txBody>
      </p:sp>
      <p:sp>
        <p:nvSpPr>
          <p:cNvPr id="19" name="Shape 17"/>
          <p:cNvSpPr/>
          <p:nvPr/>
        </p:nvSpPr>
        <p:spPr>
          <a:xfrm>
            <a:off x="6007608" y="2715768"/>
            <a:ext cx="4709160" cy="1060704"/>
          </a:xfrm>
          <a:prstGeom prst="roundRect">
            <a:avLst>
              <a:gd name="adj" fmla="val 5172"/>
            </a:avLst>
          </a:prstGeom>
          <a:solidFill>
            <a:srgbClr val="13242E"/>
          </a:solidFill>
          <a:ln w="12700">
            <a:solidFill>
              <a:srgbClr val="34515E">
                <a:alpha val="92000"/>
              </a:srgbClr>
            </a:solidFill>
            <a:prstDash val="solid"/>
          </a:ln>
        </p:spPr>
      </p:sp>
      <p:sp>
        <p:nvSpPr>
          <p:cNvPr id="20" name="Shape 18"/>
          <p:cNvSpPr/>
          <p:nvPr/>
        </p:nvSpPr>
        <p:spPr>
          <a:xfrm>
            <a:off x="6007608" y="2715768"/>
            <a:ext cx="59436" cy="1060704"/>
          </a:xfrm>
          <a:prstGeom prst="rect">
            <a:avLst/>
          </a:prstGeom>
          <a:solidFill>
            <a:srgbClr val="FFA640"/>
          </a:solidFill>
          <a:ln w="12700">
            <a:solidFill>
              <a:srgbClr val="FFA640"/>
            </a:solidFill>
            <a:prstDash val="solid"/>
          </a:ln>
        </p:spPr>
      </p:sp>
      <p:sp>
        <p:nvSpPr>
          <p:cNvPr id="21" name="Text 19"/>
          <p:cNvSpPr/>
          <p:nvPr/>
        </p:nvSpPr>
        <p:spPr>
          <a:xfrm>
            <a:off x="6172200" y="286207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RFID RC522</a:t>
            </a:r>
            <a:endParaRPr lang="en-US" sz="1600" dirty="0"/>
          </a:p>
        </p:txBody>
      </p:sp>
      <p:sp>
        <p:nvSpPr>
          <p:cNvPr id="22" name="Text 20"/>
          <p:cNvSpPr/>
          <p:nvPr/>
        </p:nvSpPr>
        <p:spPr>
          <a:xfrm>
            <a:off x="6172200" y="324612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Digunakan untuk identifikasi member agar akses masuk lebih cepat dan otomatis.</a:t>
            </a:r>
            <a:endParaRPr lang="en-US" sz="1070" dirty="0"/>
          </a:p>
        </p:txBody>
      </p:sp>
      <p:sp>
        <p:nvSpPr>
          <p:cNvPr id="23" name="Shape 21"/>
          <p:cNvSpPr/>
          <p:nvPr/>
        </p:nvSpPr>
        <p:spPr>
          <a:xfrm>
            <a:off x="658368" y="4133088"/>
            <a:ext cx="4709160" cy="1060704"/>
          </a:xfrm>
          <a:prstGeom prst="roundRect">
            <a:avLst>
              <a:gd name="adj" fmla="val 5172"/>
            </a:avLst>
          </a:prstGeom>
          <a:solidFill>
            <a:srgbClr val="13242E"/>
          </a:solidFill>
          <a:ln w="12700">
            <a:solidFill>
              <a:srgbClr val="34515E">
                <a:alpha val="92000"/>
              </a:srgbClr>
            </a:solidFill>
            <a:prstDash val="solid"/>
          </a:ln>
        </p:spPr>
      </p:sp>
      <p:sp>
        <p:nvSpPr>
          <p:cNvPr id="24" name="Shape 22"/>
          <p:cNvSpPr/>
          <p:nvPr/>
        </p:nvSpPr>
        <p:spPr>
          <a:xfrm>
            <a:off x="658368" y="4133088"/>
            <a:ext cx="59436" cy="1060704"/>
          </a:xfrm>
          <a:prstGeom prst="rect">
            <a:avLst/>
          </a:prstGeom>
          <a:solidFill>
            <a:srgbClr val="1798C8"/>
          </a:solidFill>
          <a:ln w="12700">
            <a:solidFill>
              <a:srgbClr val="1798C8"/>
            </a:solidFill>
            <a:prstDash val="solid"/>
          </a:ln>
        </p:spPr>
      </p:sp>
      <p:sp>
        <p:nvSpPr>
          <p:cNvPr id="25" name="Text 23"/>
          <p:cNvSpPr/>
          <p:nvPr/>
        </p:nvSpPr>
        <p:spPr>
          <a:xfrm>
            <a:off x="822960" y="427939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Ultrasonik + Servo</a:t>
            </a:r>
            <a:endParaRPr lang="en-US" sz="1600" dirty="0"/>
          </a:p>
        </p:txBody>
      </p:sp>
      <p:sp>
        <p:nvSpPr>
          <p:cNvPr id="26" name="Text 24"/>
          <p:cNvSpPr/>
          <p:nvPr/>
        </p:nvSpPr>
        <p:spPr>
          <a:xfrm>
            <a:off x="822960" y="466344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Sensor membaca kendaraan di slot, sedangkan servo menggerakkan palang parkir.</a:t>
            </a:r>
            <a:endParaRPr lang="en-US" sz="1070" dirty="0"/>
          </a:p>
        </p:txBody>
      </p:sp>
      <p:sp>
        <p:nvSpPr>
          <p:cNvPr id="27" name="Shape 25"/>
          <p:cNvSpPr/>
          <p:nvPr/>
        </p:nvSpPr>
        <p:spPr>
          <a:xfrm>
            <a:off x="6007608" y="4133088"/>
            <a:ext cx="4709160" cy="1060704"/>
          </a:xfrm>
          <a:prstGeom prst="roundRect">
            <a:avLst>
              <a:gd name="adj" fmla="val 5172"/>
            </a:avLst>
          </a:prstGeom>
          <a:solidFill>
            <a:srgbClr val="13242E"/>
          </a:solidFill>
          <a:ln w="12700">
            <a:solidFill>
              <a:srgbClr val="34515E">
                <a:alpha val="92000"/>
              </a:srgbClr>
            </a:solidFill>
            <a:prstDash val="solid"/>
          </a:ln>
        </p:spPr>
      </p:sp>
      <p:sp>
        <p:nvSpPr>
          <p:cNvPr id="28" name="Shape 26"/>
          <p:cNvSpPr/>
          <p:nvPr/>
        </p:nvSpPr>
        <p:spPr>
          <a:xfrm>
            <a:off x="6007608" y="4133088"/>
            <a:ext cx="59436" cy="1060704"/>
          </a:xfrm>
          <a:prstGeom prst="rect">
            <a:avLst/>
          </a:prstGeom>
          <a:solidFill>
            <a:srgbClr val="FF7A7A"/>
          </a:solidFill>
          <a:ln w="12700">
            <a:solidFill>
              <a:srgbClr val="FF7A7A"/>
            </a:solidFill>
            <a:prstDash val="solid"/>
          </a:ln>
        </p:spPr>
      </p:sp>
      <p:sp>
        <p:nvSpPr>
          <p:cNvPr id="29" name="Text 27"/>
          <p:cNvSpPr/>
          <p:nvPr/>
        </p:nvSpPr>
        <p:spPr>
          <a:xfrm>
            <a:off x="6172200" y="4279392"/>
            <a:ext cx="439826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AI Voice / TTS</a:t>
            </a:r>
            <a:endParaRPr lang="en-US" sz="1600" dirty="0"/>
          </a:p>
        </p:txBody>
      </p:sp>
      <p:sp>
        <p:nvSpPr>
          <p:cNvPr id="30" name="Text 28"/>
          <p:cNvSpPr/>
          <p:nvPr/>
        </p:nvSpPr>
        <p:spPr>
          <a:xfrm>
            <a:off x="6172200" y="4663440"/>
            <a:ext cx="4398264" cy="402336"/>
          </a:xfrm>
          <a:prstGeom prst="rect">
            <a:avLst/>
          </a:prstGeom>
          <a:noFill/>
          <a:ln/>
        </p:spPr>
        <p:txBody>
          <a:bodyPr wrap="square" lIns="0" tIns="0" rIns="0" bIns="0" rtlCol="0" anchor="ctr">
            <a:normAutofit/>
          </a:bodyPr>
          <a:lstStyle/>
          <a:p>
            <a:pPr indent="0" marL="0">
              <a:buNone/>
            </a:pPr>
            <a:r>
              <a:rPr lang="en-US" sz="1070" dirty="0">
                <a:solidFill>
                  <a:srgbClr val="A8B9C2"/>
                </a:solidFill>
              </a:rPr>
              <a:t>Digunakan untuk notifikasi suara agar sistem terasa lebih informatif dan modern.</a:t>
            </a:r>
            <a:endParaRPr lang="en-US" sz="1070" dirty="0"/>
          </a:p>
        </p:txBody>
      </p:sp>
      <p:sp>
        <p:nvSpPr>
          <p:cNvPr id="32" name="Text 29"/>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06 - Teknologi dan Alasan</a:t>
            </a:r>
            <a:endParaRPr lang="en-US" sz="850" dirty="0"/>
          </a:p>
        </p:txBody>
      </p:sp>
      <p:sp>
        <p:nvSpPr>
          <p:cNvPr id="33" name="Text 30"/>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1:20</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MODAL DAN WAKTU</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Estimasi pengerjaan prototype SpotFinder.</a:t>
            </a:r>
            <a:endParaRPr lang="en-US" sz="3200" dirty="0"/>
          </a:p>
        </p:txBody>
      </p:sp>
      <p:sp>
        <p:nvSpPr>
          <p:cNvPr id="7" name="Shape 5"/>
          <p:cNvSpPr/>
          <p:nvPr/>
        </p:nvSpPr>
        <p:spPr>
          <a:xfrm>
            <a:off x="731520" y="1417320"/>
            <a:ext cx="3886200" cy="1417320"/>
          </a:xfrm>
          <a:prstGeom prst="roundRect">
            <a:avLst>
              <a:gd name="adj" fmla="val 3871"/>
            </a:avLst>
          </a:prstGeom>
          <a:solidFill>
            <a:srgbClr val="13242E"/>
          </a:solidFill>
          <a:ln w="12700">
            <a:solidFill>
              <a:srgbClr val="34515E">
                <a:alpha val="92000"/>
              </a:srgbClr>
            </a:solidFill>
            <a:prstDash val="solid"/>
          </a:ln>
        </p:spPr>
      </p:sp>
      <p:sp>
        <p:nvSpPr>
          <p:cNvPr id="8" name="Shape 6"/>
          <p:cNvSpPr/>
          <p:nvPr/>
        </p:nvSpPr>
        <p:spPr>
          <a:xfrm>
            <a:off x="731520" y="1417320"/>
            <a:ext cx="59436" cy="1417320"/>
          </a:xfrm>
          <a:prstGeom prst="rect">
            <a:avLst/>
          </a:prstGeom>
          <a:solidFill>
            <a:srgbClr val="77E08F"/>
          </a:solidFill>
          <a:ln w="12700">
            <a:solidFill>
              <a:srgbClr val="77E08F"/>
            </a:solidFill>
            <a:prstDash val="solid"/>
          </a:ln>
        </p:spPr>
      </p:sp>
      <p:sp>
        <p:nvSpPr>
          <p:cNvPr id="9" name="Text 7"/>
          <p:cNvSpPr/>
          <p:nvPr/>
        </p:nvSpPr>
        <p:spPr>
          <a:xfrm>
            <a:off x="896112" y="1563624"/>
            <a:ext cx="35753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Modal Keseluruhan</a:t>
            </a:r>
            <a:endParaRPr lang="en-US" sz="1600" dirty="0"/>
          </a:p>
        </p:txBody>
      </p:sp>
      <p:sp>
        <p:nvSpPr>
          <p:cNvPr id="10" name="Text 8"/>
          <p:cNvSpPr/>
          <p:nvPr/>
        </p:nvSpPr>
        <p:spPr>
          <a:xfrm>
            <a:off x="896112" y="1947672"/>
            <a:ext cx="3575304" cy="758952"/>
          </a:xfrm>
          <a:prstGeom prst="rect">
            <a:avLst/>
          </a:prstGeom>
          <a:noFill/>
          <a:ln/>
        </p:spPr>
        <p:txBody>
          <a:bodyPr wrap="square" lIns="0" tIns="0" rIns="0" bIns="0" rtlCol="0" anchor="ctr">
            <a:normAutofit/>
          </a:bodyPr>
          <a:lstStyle/>
          <a:p>
            <a:pPr indent="0" marL="0">
              <a:buNone/>
            </a:pPr>
            <a:r>
              <a:rPr lang="en-US" sz="1200" dirty="0">
                <a:solidFill>
                  <a:srgbClr val="A8B9C2"/>
                </a:solidFill>
              </a:rPr>
              <a:t>± Rp 500.000</a:t>
            </a:r>
            <a:endParaRPr lang="en-US" sz="1200" dirty="0"/>
          </a:p>
          <a:p>
            <a:pPr indent="0" marL="0">
              <a:buNone/>
            </a:pPr>
            <a:r>
              <a:rPr lang="en-US" sz="1200" dirty="0">
                <a:solidFill>
                  <a:srgbClr val="A8B9C2"/>
                </a:solidFill>
              </a:rPr>
              <a:t>Mencakup komponen, alat dan bahan, kebutuhan testing, makanan, minuman, dan pendukung pengerjaan.</a:t>
            </a:r>
            <a:endParaRPr lang="en-US" sz="1200" dirty="0"/>
          </a:p>
        </p:txBody>
      </p:sp>
      <p:sp>
        <p:nvSpPr>
          <p:cNvPr id="11" name="Shape 9"/>
          <p:cNvSpPr/>
          <p:nvPr/>
        </p:nvSpPr>
        <p:spPr>
          <a:xfrm>
            <a:off x="7452360" y="1417320"/>
            <a:ext cx="3886200" cy="1417320"/>
          </a:xfrm>
          <a:prstGeom prst="roundRect">
            <a:avLst>
              <a:gd name="adj" fmla="val 3871"/>
            </a:avLst>
          </a:prstGeom>
          <a:solidFill>
            <a:srgbClr val="13242E"/>
          </a:solidFill>
          <a:ln w="12700">
            <a:solidFill>
              <a:srgbClr val="34515E">
                <a:alpha val="92000"/>
              </a:srgbClr>
            </a:solidFill>
            <a:prstDash val="solid"/>
          </a:ln>
        </p:spPr>
      </p:sp>
      <p:sp>
        <p:nvSpPr>
          <p:cNvPr id="12" name="Shape 10"/>
          <p:cNvSpPr/>
          <p:nvPr/>
        </p:nvSpPr>
        <p:spPr>
          <a:xfrm>
            <a:off x="7452360" y="1417320"/>
            <a:ext cx="59436" cy="1417320"/>
          </a:xfrm>
          <a:prstGeom prst="rect">
            <a:avLst/>
          </a:prstGeom>
          <a:solidFill>
            <a:srgbClr val="35D0FF"/>
          </a:solidFill>
          <a:ln w="12700">
            <a:solidFill>
              <a:srgbClr val="35D0FF"/>
            </a:solidFill>
            <a:prstDash val="solid"/>
          </a:ln>
        </p:spPr>
      </p:sp>
      <p:sp>
        <p:nvSpPr>
          <p:cNvPr id="13" name="Text 11"/>
          <p:cNvSpPr/>
          <p:nvPr/>
        </p:nvSpPr>
        <p:spPr>
          <a:xfrm>
            <a:off x="7616952" y="1563624"/>
            <a:ext cx="357530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Waktu Pengerjaan</a:t>
            </a:r>
            <a:endParaRPr lang="en-US" sz="1600" dirty="0"/>
          </a:p>
        </p:txBody>
      </p:sp>
      <p:sp>
        <p:nvSpPr>
          <p:cNvPr id="14" name="Text 12"/>
          <p:cNvSpPr/>
          <p:nvPr/>
        </p:nvSpPr>
        <p:spPr>
          <a:xfrm>
            <a:off x="7616952" y="1947672"/>
            <a:ext cx="3575304" cy="758952"/>
          </a:xfrm>
          <a:prstGeom prst="rect">
            <a:avLst/>
          </a:prstGeom>
          <a:noFill/>
          <a:ln/>
        </p:spPr>
        <p:txBody>
          <a:bodyPr wrap="square" lIns="0" tIns="0" rIns="0" bIns="0" rtlCol="0" anchor="ctr">
            <a:normAutofit/>
          </a:bodyPr>
          <a:lstStyle/>
          <a:p>
            <a:pPr indent="0" marL="0">
              <a:buNone/>
            </a:pPr>
            <a:r>
              <a:rPr lang="en-US" sz="1200" dirty="0">
                <a:solidFill>
                  <a:srgbClr val="A8B9C2"/>
                </a:solidFill>
              </a:rPr>
              <a:t>± 6 Bulan</a:t>
            </a:r>
            <a:endParaRPr lang="en-US" sz="1200" dirty="0"/>
          </a:p>
          <a:p>
            <a:pPr indent="0" marL="0">
              <a:buNone/>
            </a:pPr>
            <a:r>
              <a:rPr lang="en-US" sz="1200" dirty="0">
                <a:solidFill>
                  <a:srgbClr val="A8B9C2"/>
                </a:solidFill>
              </a:rPr>
              <a:t>Mencakup riset, coding, perakitan hardware, debugging, dan testing.</a:t>
            </a:r>
            <a:endParaRPr lang="en-US" sz="1200" dirty="0"/>
          </a:p>
        </p:txBody>
      </p:sp>
      <p:sp>
        <p:nvSpPr>
          <p:cNvPr id="15" name="Text 13"/>
          <p:cNvSpPr/>
          <p:nvPr/>
        </p:nvSpPr>
        <p:spPr>
          <a:xfrm>
            <a:off x="4114800" y="3246120"/>
            <a:ext cx="4023360" cy="320040"/>
          </a:xfrm>
          <a:prstGeom prst="rect">
            <a:avLst/>
          </a:prstGeom>
          <a:noFill/>
          <a:ln/>
        </p:spPr>
        <p:txBody>
          <a:bodyPr wrap="square" lIns="254" tIns="254" rIns="254" bIns="254" rtlCol="0" anchor="ctr">
            <a:normAutofit/>
          </a:bodyPr>
          <a:lstStyle/>
          <a:p>
            <a:pPr algn="ctr" indent="0" marL="0">
              <a:buNone/>
            </a:pPr>
            <a:r>
              <a:rPr lang="en-US" sz="2200" b="1" dirty="0">
                <a:solidFill>
                  <a:srgbClr val="EEF7F4"/>
                </a:solidFill>
              </a:rPr>
              <a:t>Tahapan Pengerjaan</a:t>
            </a:r>
            <a:endParaRPr lang="en-US" sz="2200" dirty="0"/>
          </a:p>
        </p:txBody>
      </p:sp>
      <p:sp>
        <p:nvSpPr>
          <p:cNvPr id="16" name="Shape 14"/>
          <p:cNvSpPr/>
          <p:nvPr/>
        </p:nvSpPr>
        <p:spPr>
          <a:xfrm rot="5400000">
            <a:off x="2240280" y="3977640"/>
            <a:ext cx="1115568" cy="1051560"/>
          </a:xfrm>
          <a:prstGeom prst="chevron">
            <a:avLst/>
          </a:prstGeom>
          <a:solidFill>
            <a:srgbClr val="FF7A7A"/>
          </a:solidFill>
          <a:ln w="16510">
            <a:solidFill>
              <a:srgbClr val="FFFFFF"/>
            </a:solidFill>
            <a:prstDash val="solid"/>
          </a:ln>
        </p:spPr>
      </p:sp>
      <p:sp>
        <p:nvSpPr>
          <p:cNvPr id="17" name="Text 15"/>
          <p:cNvSpPr/>
          <p:nvPr/>
        </p:nvSpPr>
        <p:spPr>
          <a:xfrm>
            <a:off x="2286000" y="4361688"/>
            <a:ext cx="1005840" cy="201168"/>
          </a:xfrm>
          <a:prstGeom prst="rect">
            <a:avLst/>
          </a:prstGeom>
          <a:noFill/>
          <a:ln/>
        </p:spPr>
        <p:txBody>
          <a:bodyPr wrap="square" lIns="254" tIns="254" rIns="254" bIns="254" rtlCol="0" anchor="ctr">
            <a:normAutofit/>
          </a:bodyPr>
          <a:lstStyle/>
          <a:p>
            <a:pPr algn="ctr" indent="0" marL="0">
              <a:buNone/>
            </a:pPr>
            <a:r>
              <a:rPr lang="en-US" sz="1350" b="1" dirty="0">
                <a:solidFill>
                  <a:srgbClr val="FFFFFF"/>
                </a:solidFill>
              </a:rPr>
              <a:t>Ide</a:t>
            </a:r>
            <a:endParaRPr lang="en-US" sz="1350" dirty="0"/>
          </a:p>
        </p:txBody>
      </p:sp>
      <p:sp>
        <p:nvSpPr>
          <p:cNvPr id="18" name="Shape 16"/>
          <p:cNvSpPr/>
          <p:nvPr/>
        </p:nvSpPr>
        <p:spPr>
          <a:xfrm rot="5400000">
            <a:off x="3813048" y="3977640"/>
            <a:ext cx="1115568" cy="1051560"/>
          </a:xfrm>
          <a:prstGeom prst="chevron">
            <a:avLst/>
          </a:prstGeom>
          <a:solidFill>
            <a:srgbClr val="35D0FF"/>
          </a:solidFill>
          <a:ln w="16510">
            <a:solidFill>
              <a:srgbClr val="FFFFFF"/>
            </a:solidFill>
            <a:prstDash val="solid"/>
          </a:ln>
        </p:spPr>
      </p:sp>
      <p:sp>
        <p:nvSpPr>
          <p:cNvPr id="19" name="Text 17"/>
          <p:cNvSpPr/>
          <p:nvPr/>
        </p:nvSpPr>
        <p:spPr>
          <a:xfrm>
            <a:off x="3858768" y="4361688"/>
            <a:ext cx="1005840" cy="201168"/>
          </a:xfrm>
          <a:prstGeom prst="rect">
            <a:avLst/>
          </a:prstGeom>
          <a:noFill/>
          <a:ln/>
        </p:spPr>
        <p:txBody>
          <a:bodyPr wrap="square" lIns="254" tIns="254" rIns="254" bIns="254" rtlCol="0" anchor="ctr">
            <a:normAutofit/>
          </a:bodyPr>
          <a:lstStyle/>
          <a:p>
            <a:pPr algn="ctr" indent="0" marL="0">
              <a:buNone/>
            </a:pPr>
            <a:r>
              <a:rPr lang="en-US" sz="1350" b="1" dirty="0">
                <a:solidFill>
                  <a:srgbClr val="FFFFFF"/>
                </a:solidFill>
              </a:rPr>
              <a:t>Web</a:t>
            </a:r>
            <a:endParaRPr lang="en-US" sz="1350" dirty="0"/>
          </a:p>
        </p:txBody>
      </p:sp>
      <p:sp>
        <p:nvSpPr>
          <p:cNvPr id="20" name="Shape 18"/>
          <p:cNvSpPr/>
          <p:nvPr/>
        </p:nvSpPr>
        <p:spPr>
          <a:xfrm rot="5400000">
            <a:off x="5385816" y="3977640"/>
            <a:ext cx="1115568" cy="1051560"/>
          </a:xfrm>
          <a:prstGeom prst="chevron">
            <a:avLst/>
          </a:prstGeom>
          <a:solidFill>
            <a:srgbClr val="77E08F"/>
          </a:solidFill>
          <a:ln w="16510">
            <a:solidFill>
              <a:srgbClr val="FFFFFF"/>
            </a:solidFill>
            <a:prstDash val="solid"/>
          </a:ln>
        </p:spPr>
      </p:sp>
      <p:sp>
        <p:nvSpPr>
          <p:cNvPr id="21" name="Text 19"/>
          <p:cNvSpPr/>
          <p:nvPr/>
        </p:nvSpPr>
        <p:spPr>
          <a:xfrm>
            <a:off x="5431536" y="4361688"/>
            <a:ext cx="1005840" cy="201168"/>
          </a:xfrm>
          <a:prstGeom prst="rect">
            <a:avLst/>
          </a:prstGeom>
          <a:noFill/>
          <a:ln/>
        </p:spPr>
        <p:txBody>
          <a:bodyPr wrap="square" lIns="254" tIns="254" rIns="254" bIns="254" rtlCol="0" anchor="ctr">
            <a:normAutofit/>
          </a:bodyPr>
          <a:lstStyle/>
          <a:p>
            <a:pPr algn="ctr" indent="0" marL="0">
              <a:buNone/>
            </a:pPr>
            <a:r>
              <a:rPr lang="en-US" sz="1200" b="1" dirty="0">
                <a:solidFill>
                  <a:srgbClr val="FFFFFF"/>
                </a:solidFill>
              </a:rPr>
              <a:t>Database</a:t>
            </a:r>
            <a:endParaRPr lang="en-US" sz="1200" dirty="0"/>
          </a:p>
        </p:txBody>
      </p:sp>
      <p:sp>
        <p:nvSpPr>
          <p:cNvPr id="22" name="Shape 20"/>
          <p:cNvSpPr/>
          <p:nvPr/>
        </p:nvSpPr>
        <p:spPr>
          <a:xfrm rot="5400000">
            <a:off x="6958584" y="3977640"/>
            <a:ext cx="1115568" cy="1051560"/>
          </a:xfrm>
          <a:prstGeom prst="chevron">
            <a:avLst/>
          </a:prstGeom>
          <a:solidFill>
            <a:srgbClr val="FFA640"/>
          </a:solidFill>
          <a:ln w="16510">
            <a:solidFill>
              <a:srgbClr val="FFFFFF"/>
            </a:solidFill>
            <a:prstDash val="solid"/>
          </a:ln>
        </p:spPr>
      </p:sp>
      <p:sp>
        <p:nvSpPr>
          <p:cNvPr id="23" name="Text 21"/>
          <p:cNvSpPr/>
          <p:nvPr/>
        </p:nvSpPr>
        <p:spPr>
          <a:xfrm>
            <a:off x="7004304" y="4361688"/>
            <a:ext cx="1005840" cy="201168"/>
          </a:xfrm>
          <a:prstGeom prst="rect">
            <a:avLst/>
          </a:prstGeom>
          <a:noFill/>
          <a:ln/>
        </p:spPr>
        <p:txBody>
          <a:bodyPr wrap="square" lIns="254" tIns="254" rIns="254" bIns="254" rtlCol="0" anchor="ctr">
            <a:normAutofit/>
          </a:bodyPr>
          <a:lstStyle/>
          <a:p>
            <a:pPr algn="ctr" indent="0" marL="0">
              <a:buNone/>
            </a:pPr>
            <a:r>
              <a:rPr lang="en-US" sz="1350" b="1" dirty="0">
                <a:solidFill>
                  <a:srgbClr val="FFFFFF"/>
                </a:solidFill>
              </a:rPr>
              <a:t>IoT</a:t>
            </a:r>
            <a:endParaRPr lang="en-US" sz="1350" dirty="0"/>
          </a:p>
        </p:txBody>
      </p:sp>
      <p:sp>
        <p:nvSpPr>
          <p:cNvPr id="24" name="Shape 22"/>
          <p:cNvSpPr/>
          <p:nvPr/>
        </p:nvSpPr>
        <p:spPr>
          <a:xfrm rot="5400000">
            <a:off x="8531352" y="3977640"/>
            <a:ext cx="1115568" cy="1051560"/>
          </a:xfrm>
          <a:prstGeom prst="chevron">
            <a:avLst/>
          </a:prstGeom>
          <a:solidFill>
            <a:srgbClr val="1798C8"/>
          </a:solidFill>
          <a:ln w="16510">
            <a:solidFill>
              <a:srgbClr val="FFFFFF"/>
            </a:solidFill>
            <a:prstDash val="solid"/>
          </a:ln>
        </p:spPr>
      </p:sp>
      <p:sp>
        <p:nvSpPr>
          <p:cNvPr id="25" name="Text 23"/>
          <p:cNvSpPr/>
          <p:nvPr/>
        </p:nvSpPr>
        <p:spPr>
          <a:xfrm>
            <a:off x="8577072" y="4361688"/>
            <a:ext cx="1005840" cy="201168"/>
          </a:xfrm>
          <a:prstGeom prst="rect">
            <a:avLst/>
          </a:prstGeom>
          <a:noFill/>
          <a:ln/>
        </p:spPr>
        <p:txBody>
          <a:bodyPr wrap="square" lIns="254" tIns="254" rIns="254" bIns="254" rtlCol="0" anchor="ctr">
            <a:normAutofit/>
          </a:bodyPr>
          <a:lstStyle/>
          <a:p>
            <a:pPr algn="ctr" indent="0" marL="0">
              <a:buNone/>
            </a:pPr>
            <a:r>
              <a:rPr lang="en-US" sz="1350" b="1" dirty="0">
                <a:solidFill>
                  <a:srgbClr val="FFFFFF"/>
                </a:solidFill>
              </a:rPr>
              <a:t>Testing</a:t>
            </a:r>
            <a:endParaRPr lang="en-US" sz="1350" dirty="0"/>
          </a:p>
        </p:txBody>
      </p:sp>
      <p:sp>
        <p:nvSpPr>
          <p:cNvPr id="27" name="Text 24"/>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07 - Modal dan Waktu</a:t>
            </a:r>
            <a:endParaRPr lang="en-US" sz="850" dirty="0"/>
          </a:p>
        </p:txBody>
      </p:sp>
      <p:sp>
        <p:nvSpPr>
          <p:cNvPr id="28" name="Text 25"/>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0:55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PERMASALAHAN SAAT PENGERJAAN</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Beberapa kendala yang ditemui selama project.</a:t>
            </a:r>
            <a:endParaRPr lang="en-US" sz="3200" dirty="0"/>
          </a:p>
        </p:txBody>
      </p:sp>
      <p:sp>
        <p:nvSpPr>
          <p:cNvPr id="7" name="Shape 5"/>
          <p:cNvSpPr/>
          <p:nvPr/>
        </p:nvSpPr>
        <p:spPr>
          <a:xfrm>
            <a:off x="658368" y="1353312"/>
            <a:ext cx="3154680" cy="1261872"/>
          </a:xfrm>
          <a:prstGeom prst="roundRect">
            <a:avLst>
              <a:gd name="adj" fmla="val 4348"/>
            </a:avLst>
          </a:prstGeom>
          <a:solidFill>
            <a:srgbClr val="13242E"/>
          </a:solidFill>
          <a:ln w="12700">
            <a:solidFill>
              <a:srgbClr val="34515E">
                <a:alpha val="92000"/>
              </a:srgbClr>
            </a:solidFill>
            <a:prstDash val="solid"/>
          </a:ln>
        </p:spPr>
      </p:sp>
      <p:sp>
        <p:nvSpPr>
          <p:cNvPr id="8" name="Shape 6"/>
          <p:cNvSpPr/>
          <p:nvPr/>
        </p:nvSpPr>
        <p:spPr>
          <a:xfrm>
            <a:off x="658368" y="1353312"/>
            <a:ext cx="59436" cy="1261872"/>
          </a:xfrm>
          <a:prstGeom prst="rect">
            <a:avLst/>
          </a:prstGeom>
          <a:solidFill>
            <a:srgbClr val="F7C948"/>
          </a:solidFill>
          <a:ln w="12700">
            <a:solidFill>
              <a:srgbClr val="F7C948"/>
            </a:solidFill>
            <a:prstDash val="solid"/>
          </a:ln>
        </p:spPr>
      </p:sp>
      <p:sp>
        <p:nvSpPr>
          <p:cNvPr id="9" name="Text 7"/>
          <p:cNvSpPr/>
          <p:nvPr/>
        </p:nvSpPr>
        <p:spPr>
          <a:xfrm>
            <a:off x="822960" y="1499616"/>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Biaya</a:t>
            </a:r>
            <a:endParaRPr lang="en-US" sz="1600" dirty="0"/>
          </a:p>
        </p:txBody>
      </p:sp>
      <p:sp>
        <p:nvSpPr>
          <p:cNvPr id="10" name="Text 8"/>
          <p:cNvSpPr/>
          <p:nvPr/>
        </p:nvSpPr>
        <p:spPr>
          <a:xfrm>
            <a:off x="822960" y="1883664"/>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Komponen, alat, bahan, dan kebutuhan pendukung harus disesuaikan dengan modal yang terbatas.</a:t>
            </a:r>
            <a:endParaRPr lang="en-US" sz="1150" dirty="0"/>
          </a:p>
        </p:txBody>
      </p:sp>
      <p:sp>
        <p:nvSpPr>
          <p:cNvPr id="11" name="Shape 9"/>
          <p:cNvSpPr/>
          <p:nvPr/>
        </p:nvSpPr>
        <p:spPr>
          <a:xfrm>
            <a:off x="4526280" y="1353312"/>
            <a:ext cx="3154680" cy="1261872"/>
          </a:xfrm>
          <a:prstGeom prst="roundRect">
            <a:avLst>
              <a:gd name="adj" fmla="val 4348"/>
            </a:avLst>
          </a:prstGeom>
          <a:solidFill>
            <a:srgbClr val="13242E"/>
          </a:solidFill>
          <a:ln w="12700">
            <a:solidFill>
              <a:srgbClr val="34515E">
                <a:alpha val="92000"/>
              </a:srgbClr>
            </a:solidFill>
            <a:prstDash val="solid"/>
          </a:ln>
        </p:spPr>
      </p:sp>
      <p:sp>
        <p:nvSpPr>
          <p:cNvPr id="12" name="Shape 10"/>
          <p:cNvSpPr/>
          <p:nvPr/>
        </p:nvSpPr>
        <p:spPr>
          <a:xfrm>
            <a:off x="4526280" y="1353312"/>
            <a:ext cx="59436" cy="1261872"/>
          </a:xfrm>
          <a:prstGeom prst="rect">
            <a:avLst/>
          </a:prstGeom>
          <a:solidFill>
            <a:srgbClr val="35D0FF"/>
          </a:solidFill>
          <a:ln w="12700">
            <a:solidFill>
              <a:srgbClr val="35D0FF"/>
            </a:solidFill>
            <a:prstDash val="solid"/>
          </a:ln>
        </p:spPr>
      </p:sp>
      <p:sp>
        <p:nvSpPr>
          <p:cNvPr id="13" name="Text 11"/>
          <p:cNvSpPr/>
          <p:nvPr/>
        </p:nvSpPr>
        <p:spPr>
          <a:xfrm>
            <a:off x="4690872" y="1499616"/>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Hardware</a:t>
            </a:r>
            <a:endParaRPr lang="en-US" sz="1600" dirty="0"/>
          </a:p>
        </p:txBody>
      </p:sp>
      <p:sp>
        <p:nvSpPr>
          <p:cNvPr id="14" name="Text 12"/>
          <p:cNvSpPr/>
          <p:nvPr/>
        </p:nvSpPr>
        <p:spPr>
          <a:xfrm>
            <a:off x="4690872" y="1883664"/>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Sensor perlu kalibrasi karena pembacaan jarak kadang tidak stabil.</a:t>
            </a:r>
            <a:endParaRPr lang="en-US" sz="1150" dirty="0"/>
          </a:p>
        </p:txBody>
      </p:sp>
      <p:sp>
        <p:nvSpPr>
          <p:cNvPr id="15" name="Shape 13"/>
          <p:cNvSpPr/>
          <p:nvPr/>
        </p:nvSpPr>
        <p:spPr>
          <a:xfrm>
            <a:off x="8394192" y="1353312"/>
            <a:ext cx="3154680" cy="1261872"/>
          </a:xfrm>
          <a:prstGeom prst="roundRect">
            <a:avLst>
              <a:gd name="adj" fmla="val 4348"/>
            </a:avLst>
          </a:prstGeom>
          <a:solidFill>
            <a:srgbClr val="13242E"/>
          </a:solidFill>
          <a:ln w="12700">
            <a:solidFill>
              <a:srgbClr val="34515E">
                <a:alpha val="92000"/>
              </a:srgbClr>
            </a:solidFill>
            <a:prstDash val="solid"/>
          </a:ln>
        </p:spPr>
      </p:sp>
      <p:sp>
        <p:nvSpPr>
          <p:cNvPr id="16" name="Shape 14"/>
          <p:cNvSpPr/>
          <p:nvPr/>
        </p:nvSpPr>
        <p:spPr>
          <a:xfrm>
            <a:off x="8394192" y="1353312"/>
            <a:ext cx="59436" cy="1261872"/>
          </a:xfrm>
          <a:prstGeom prst="rect">
            <a:avLst/>
          </a:prstGeom>
          <a:solidFill>
            <a:srgbClr val="77E08F"/>
          </a:solidFill>
          <a:ln w="12700">
            <a:solidFill>
              <a:srgbClr val="77E08F"/>
            </a:solidFill>
            <a:prstDash val="solid"/>
          </a:ln>
        </p:spPr>
      </p:sp>
      <p:sp>
        <p:nvSpPr>
          <p:cNvPr id="17" name="Text 15"/>
          <p:cNvSpPr/>
          <p:nvPr/>
        </p:nvSpPr>
        <p:spPr>
          <a:xfrm>
            <a:off x="8558784" y="1499616"/>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Integrasi</a:t>
            </a:r>
            <a:endParaRPr lang="en-US" sz="1600" dirty="0"/>
          </a:p>
        </p:txBody>
      </p:sp>
      <p:sp>
        <p:nvSpPr>
          <p:cNvPr id="18" name="Text 16"/>
          <p:cNvSpPr/>
          <p:nvPr/>
        </p:nvSpPr>
        <p:spPr>
          <a:xfrm>
            <a:off x="8558784" y="1883664"/>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Menghubungkan ESP32, API PHP, dan database membutuhkan banyak testing.</a:t>
            </a:r>
            <a:endParaRPr lang="en-US" sz="1150" dirty="0"/>
          </a:p>
        </p:txBody>
      </p:sp>
      <p:sp>
        <p:nvSpPr>
          <p:cNvPr id="19" name="Shape 17"/>
          <p:cNvSpPr/>
          <p:nvPr/>
        </p:nvSpPr>
        <p:spPr>
          <a:xfrm>
            <a:off x="658368" y="3154680"/>
            <a:ext cx="3154680" cy="1261872"/>
          </a:xfrm>
          <a:prstGeom prst="roundRect">
            <a:avLst>
              <a:gd name="adj" fmla="val 4348"/>
            </a:avLst>
          </a:prstGeom>
          <a:solidFill>
            <a:srgbClr val="13242E"/>
          </a:solidFill>
          <a:ln w="12700">
            <a:solidFill>
              <a:srgbClr val="34515E">
                <a:alpha val="92000"/>
              </a:srgbClr>
            </a:solidFill>
            <a:prstDash val="solid"/>
          </a:ln>
        </p:spPr>
      </p:sp>
      <p:sp>
        <p:nvSpPr>
          <p:cNvPr id="20" name="Shape 18"/>
          <p:cNvSpPr/>
          <p:nvPr/>
        </p:nvSpPr>
        <p:spPr>
          <a:xfrm>
            <a:off x="658368" y="3154680"/>
            <a:ext cx="59436" cy="1261872"/>
          </a:xfrm>
          <a:prstGeom prst="rect">
            <a:avLst/>
          </a:prstGeom>
          <a:solidFill>
            <a:srgbClr val="FF7A7A"/>
          </a:solidFill>
          <a:ln w="12700">
            <a:solidFill>
              <a:srgbClr val="FF7A7A"/>
            </a:solidFill>
            <a:prstDash val="solid"/>
          </a:ln>
        </p:spPr>
      </p:sp>
      <p:sp>
        <p:nvSpPr>
          <p:cNvPr id="21" name="Text 19"/>
          <p:cNvSpPr/>
          <p:nvPr/>
        </p:nvSpPr>
        <p:spPr>
          <a:xfrm>
            <a:off x="822960" y="330098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Debugging</a:t>
            </a:r>
            <a:endParaRPr lang="en-US" sz="1600" dirty="0"/>
          </a:p>
        </p:txBody>
      </p:sp>
      <p:sp>
        <p:nvSpPr>
          <p:cNvPr id="22" name="Text 20"/>
          <p:cNvSpPr/>
          <p:nvPr/>
        </p:nvSpPr>
        <p:spPr>
          <a:xfrm>
            <a:off x="822960" y="3685032"/>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Error pada koneksi, status slot, booking, dan gate perlu diperbaiki bertahap.</a:t>
            </a:r>
            <a:endParaRPr lang="en-US" sz="1150" dirty="0"/>
          </a:p>
        </p:txBody>
      </p:sp>
      <p:sp>
        <p:nvSpPr>
          <p:cNvPr id="23" name="Shape 21"/>
          <p:cNvSpPr/>
          <p:nvPr/>
        </p:nvSpPr>
        <p:spPr>
          <a:xfrm>
            <a:off x="4526280" y="3154680"/>
            <a:ext cx="3154680" cy="1261872"/>
          </a:xfrm>
          <a:prstGeom prst="roundRect">
            <a:avLst>
              <a:gd name="adj" fmla="val 4348"/>
            </a:avLst>
          </a:prstGeom>
          <a:solidFill>
            <a:srgbClr val="13242E"/>
          </a:solidFill>
          <a:ln w="12700">
            <a:solidFill>
              <a:srgbClr val="34515E">
                <a:alpha val="92000"/>
              </a:srgbClr>
            </a:solidFill>
            <a:prstDash val="solid"/>
          </a:ln>
        </p:spPr>
      </p:sp>
      <p:sp>
        <p:nvSpPr>
          <p:cNvPr id="24" name="Shape 22"/>
          <p:cNvSpPr/>
          <p:nvPr/>
        </p:nvSpPr>
        <p:spPr>
          <a:xfrm>
            <a:off x="4526280" y="3154680"/>
            <a:ext cx="59436" cy="1261872"/>
          </a:xfrm>
          <a:prstGeom prst="rect">
            <a:avLst/>
          </a:prstGeom>
          <a:solidFill>
            <a:srgbClr val="FFA640"/>
          </a:solidFill>
          <a:ln w="12700">
            <a:solidFill>
              <a:srgbClr val="FFA640"/>
            </a:solidFill>
            <a:prstDash val="solid"/>
          </a:ln>
        </p:spPr>
      </p:sp>
      <p:sp>
        <p:nvSpPr>
          <p:cNvPr id="25" name="Text 23"/>
          <p:cNvSpPr/>
          <p:nvPr/>
        </p:nvSpPr>
        <p:spPr>
          <a:xfrm>
            <a:off x="4690872" y="330098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Waktu</a:t>
            </a:r>
            <a:endParaRPr lang="en-US" sz="1600" dirty="0"/>
          </a:p>
        </p:txBody>
      </p:sp>
      <p:sp>
        <p:nvSpPr>
          <p:cNvPr id="26" name="Text 24"/>
          <p:cNvSpPr/>
          <p:nvPr/>
        </p:nvSpPr>
        <p:spPr>
          <a:xfrm>
            <a:off x="4690872" y="3685032"/>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Project memakan waktu cukup panjang karena menggabungkan web dan IoT.</a:t>
            </a:r>
            <a:endParaRPr lang="en-US" sz="1150" dirty="0"/>
          </a:p>
        </p:txBody>
      </p:sp>
      <p:sp>
        <p:nvSpPr>
          <p:cNvPr id="27" name="Shape 25"/>
          <p:cNvSpPr/>
          <p:nvPr/>
        </p:nvSpPr>
        <p:spPr>
          <a:xfrm>
            <a:off x="8394192" y="3154680"/>
            <a:ext cx="3154680" cy="1261872"/>
          </a:xfrm>
          <a:prstGeom prst="roundRect">
            <a:avLst>
              <a:gd name="adj" fmla="val 4348"/>
            </a:avLst>
          </a:prstGeom>
          <a:solidFill>
            <a:srgbClr val="13242E"/>
          </a:solidFill>
          <a:ln w="12700">
            <a:solidFill>
              <a:srgbClr val="34515E">
                <a:alpha val="92000"/>
              </a:srgbClr>
            </a:solidFill>
            <a:prstDash val="solid"/>
          </a:ln>
        </p:spPr>
      </p:sp>
      <p:sp>
        <p:nvSpPr>
          <p:cNvPr id="28" name="Shape 26"/>
          <p:cNvSpPr/>
          <p:nvPr/>
        </p:nvSpPr>
        <p:spPr>
          <a:xfrm>
            <a:off x="8394192" y="3154680"/>
            <a:ext cx="59436" cy="1261872"/>
          </a:xfrm>
          <a:prstGeom prst="rect">
            <a:avLst/>
          </a:prstGeom>
          <a:solidFill>
            <a:srgbClr val="1798C8"/>
          </a:solidFill>
          <a:ln w="12700">
            <a:solidFill>
              <a:srgbClr val="1798C8"/>
            </a:solidFill>
            <a:prstDash val="solid"/>
          </a:ln>
        </p:spPr>
      </p:sp>
      <p:sp>
        <p:nvSpPr>
          <p:cNvPr id="29" name="Text 27"/>
          <p:cNvSpPr/>
          <p:nvPr/>
        </p:nvSpPr>
        <p:spPr>
          <a:xfrm>
            <a:off x="8558784" y="330098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Testing</a:t>
            </a:r>
            <a:endParaRPr lang="en-US" sz="1600" dirty="0"/>
          </a:p>
        </p:txBody>
      </p:sp>
      <p:sp>
        <p:nvSpPr>
          <p:cNvPr id="30" name="Text 28"/>
          <p:cNvSpPr/>
          <p:nvPr/>
        </p:nvSpPr>
        <p:spPr>
          <a:xfrm>
            <a:off x="8558784" y="3685032"/>
            <a:ext cx="2843784" cy="603504"/>
          </a:xfrm>
          <a:prstGeom prst="rect">
            <a:avLst/>
          </a:prstGeom>
          <a:noFill/>
          <a:ln/>
        </p:spPr>
        <p:txBody>
          <a:bodyPr wrap="square" lIns="0" tIns="0" rIns="0" bIns="0" rtlCol="0" anchor="ctr">
            <a:normAutofit/>
          </a:bodyPr>
          <a:lstStyle/>
          <a:p>
            <a:pPr indent="0" marL="0">
              <a:buNone/>
            </a:pPr>
            <a:r>
              <a:rPr lang="en-US" sz="1150" dirty="0">
                <a:solidFill>
                  <a:srgbClr val="A8B9C2"/>
                </a:solidFill>
              </a:rPr>
              <a:t>Perlu uji coba berulang agar alur masuk, parkir, dan keluar berjalan benar.</a:t>
            </a:r>
            <a:endParaRPr lang="en-US" sz="1150" dirty="0"/>
          </a:p>
        </p:txBody>
      </p:sp>
      <p:sp>
        <p:nvSpPr>
          <p:cNvPr id="32" name="Text 29"/>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08 - Kendala Project</a:t>
            </a:r>
            <a:endParaRPr lang="en-US" sz="850" dirty="0"/>
          </a:p>
        </p:txBody>
      </p:sp>
      <p:sp>
        <p:nvSpPr>
          <p:cNvPr id="33" name="Text 30"/>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sp>
        <p:nvSpPr>
          <p:cNvPr id="5" name="Text 3"/>
          <p:cNvSpPr/>
          <p:nvPr/>
        </p:nvSpPr>
        <p:spPr>
          <a:xfrm>
            <a:off x="621792" y="228600"/>
            <a:ext cx="5029200" cy="201168"/>
          </a:xfrm>
          <a:prstGeom prst="rect">
            <a:avLst/>
          </a:prstGeom>
          <a:noFill/>
          <a:ln/>
        </p:spPr>
        <p:txBody>
          <a:bodyPr wrap="square" lIns="0" tIns="0" rIns="0" bIns="0" rtlCol="0" anchor="ctr"/>
          <a:lstStyle/>
          <a:p>
            <a:pPr indent="0" marL="0">
              <a:buNone/>
            </a:pPr>
            <a:r>
              <a:rPr lang="en-US" sz="1000" b="1" dirty="0">
                <a:solidFill>
                  <a:srgbClr val="77E08F"/>
                </a:solidFill>
              </a:rPr>
              <a:t>PENGEMBANGAN SELANJUTNYA</a:t>
            </a:r>
            <a:endParaRPr lang="en-US" sz="1000" dirty="0"/>
          </a:p>
        </p:txBody>
      </p:sp>
      <p:sp>
        <p:nvSpPr>
          <p:cNvPr id="6" name="Text 4"/>
          <p:cNvSpPr/>
          <p:nvPr/>
        </p:nvSpPr>
        <p:spPr>
          <a:xfrm>
            <a:off x="621792" y="530352"/>
            <a:ext cx="10789920" cy="685800"/>
          </a:xfrm>
          <a:prstGeom prst="rect">
            <a:avLst/>
          </a:prstGeom>
          <a:noFill/>
          <a:ln/>
        </p:spPr>
        <p:txBody>
          <a:bodyPr wrap="square" lIns="0" tIns="0" rIns="0" bIns="0" rtlCol="0" anchor="ctr">
            <a:normAutofit/>
          </a:bodyPr>
          <a:lstStyle/>
          <a:p>
            <a:pPr indent="0" marL="0">
              <a:buNone/>
            </a:pPr>
            <a:r>
              <a:rPr lang="en-US" sz="3200" b="1" dirty="0">
                <a:solidFill>
                  <a:srgbClr val="EEF7F4"/>
                </a:solidFill>
                <a:latin typeface="Aptos Display" pitchFamily="34" charset="0"/>
                <a:ea typeface="Aptos Display" pitchFamily="34" charset="-122"/>
                <a:cs typeface="Aptos Display" pitchFamily="34" charset="-120"/>
              </a:rPr>
              <a:t>Fitur yang bisa dikembangkan agar lebih maksimal.</a:t>
            </a:r>
            <a:endParaRPr lang="en-US" sz="3200" dirty="0"/>
          </a:p>
        </p:txBody>
      </p:sp>
      <p:sp>
        <p:nvSpPr>
          <p:cNvPr id="7" name="Shape 5"/>
          <p:cNvSpPr/>
          <p:nvPr/>
        </p:nvSpPr>
        <p:spPr>
          <a:xfrm>
            <a:off x="65836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8" name="Shape 6"/>
          <p:cNvSpPr/>
          <p:nvPr/>
        </p:nvSpPr>
        <p:spPr>
          <a:xfrm>
            <a:off x="658368" y="1417320"/>
            <a:ext cx="59436" cy="1325880"/>
          </a:xfrm>
          <a:prstGeom prst="rect">
            <a:avLst/>
          </a:prstGeom>
          <a:solidFill>
            <a:srgbClr val="77E08F"/>
          </a:solidFill>
          <a:ln w="12700">
            <a:solidFill>
              <a:srgbClr val="77E08F"/>
            </a:solidFill>
            <a:prstDash val="solid"/>
          </a:ln>
        </p:spPr>
      </p:sp>
      <p:sp>
        <p:nvSpPr>
          <p:cNvPr id="9" name="Text 7"/>
          <p:cNvSpPr/>
          <p:nvPr/>
        </p:nvSpPr>
        <p:spPr>
          <a:xfrm>
            <a:off x="82296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QRIS Asli</a:t>
            </a:r>
            <a:endParaRPr lang="en-US" sz="1600" dirty="0"/>
          </a:p>
        </p:txBody>
      </p:sp>
      <p:sp>
        <p:nvSpPr>
          <p:cNvPr id="10" name="Text 8"/>
          <p:cNvSpPr/>
          <p:nvPr/>
        </p:nvSpPr>
        <p:spPr>
          <a:xfrm>
            <a:off x="82296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Integrasi payment gateway agar top-up dan pembayaran benar-benar cashless.</a:t>
            </a:r>
            <a:endParaRPr lang="en-US" sz="1150" dirty="0"/>
          </a:p>
        </p:txBody>
      </p:sp>
      <p:sp>
        <p:nvSpPr>
          <p:cNvPr id="11" name="Shape 9"/>
          <p:cNvSpPr/>
          <p:nvPr/>
        </p:nvSpPr>
        <p:spPr>
          <a:xfrm>
            <a:off x="427024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12" name="Shape 10"/>
          <p:cNvSpPr/>
          <p:nvPr/>
        </p:nvSpPr>
        <p:spPr>
          <a:xfrm>
            <a:off x="4270248" y="1417320"/>
            <a:ext cx="59436" cy="1325880"/>
          </a:xfrm>
          <a:prstGeom prst="rect">
            <a:avLst/>
          </a:prstGeom>
          <a:solidFill>
            <a:srgbClr val="35D0FF"/>
          </a:solidFill>
          <a:ln w="12700">
            <a:solidFill>
              <a:srgbClr val="35D0FF"/>
            </a:solidFill>
            <a:prstDash val="solid"/>
          </a:ln>
        </p:spPr>
      </p:sp>
      <p:sp>
        <p:nvSpPr>
          <p:cNvPr id="13" name="Text 11"/>
          <p:cNvSpPr/>
          <p:nvPr/>
        </p:nvSpPr>
        <p:spPr>
          <a:xfrm>
            <a:off x="443484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Kamera Plat Nomor</a:t>
            </a:r>
            <a:endParaRPr lang="en-US" sz="1600" dirty="0"/>
          </a:p>
        </p:txBody>
      </p:sp>
      <p:sp>
        <p:nvSpPr>
          <p:cNvPr id="14" name="Text 12"/>
          <p:cNvSpPr/>
          <p:nvPr/>
        </p:nvSpPr>
        <p:spPr>
          <a:xfrm>
            <a:off x="443484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Deteksi plat otomatis untuk meningkatkan validasi kendaraan.</a:t>
            </a:r>
            <a:endParaRPr lang="en-US" sz="1150" dirty="0"/>
          </a:p>
        </p:txBody>
      </p:sp>
      <p:sp>
        <p:nvSpPr>
          <p:cNvPr id="15" name="Shape 13"/>
          <p:cNvSpPr/>
          <p:nvPr/>
        </p:nvSpPr>
        <p:spPr>
          <a:xfrm>
            <a:off x="7882128" y="1417320"/>
            <a:ext cx="3154680" cy="1325880"/>
          </a:xfrm>
          <a:prstGeom prst="roundRect">
            <a:avLst>
              <a:gd name="adj" fmla="val 4138"/>
            </a:avLst>
          </a:prstGeom>
          <a:solidFill>
            <a:srgbClr val="13242E"/>
          </a:solidFill>
          <a:ln w="12700">
            <a:solidFill>
              <a:srgbClr val="34515E">
                <a:alpha val="92000"/>
              </a:srgbClr>
            </a:solidFill>
            <a:prstDash val="solid"/>
          </a:ln>
        </p:spPr>
      </p:sp>
      <p:sp>
        <p:nvSpPr>
          <p:cNvPr id="16" name="Shape 14"/>
          <p:cNvSpPr/>
          <p:nvPr/>
        </p:nvSpPr>
        <p:spPr>
          <a:xfrm>
            <a:off x="7882128" y="1417320"/>
            <a:ext cx="59436" cy="1325880"/>
          </a:xfrm>
          <a:prstGeom prst="rect">
            <a:avLst/>
          </a:prstGeom>
          <a:solidFill>
            <a:srgbClr val="F7C948"/>
          </a:solidFill>
          <a:ln w="12700">
            <a:solidFill>
              <a:srgbClr val="F7C948"/>
            </a:solidFill>
            <a:prstDash val="solid"/>
          </a:ln>
        </p:spPr>
      </p:sp>
      <p:sp>
        <p:nvSpPr>
          <p:cNvPr id="17" name="Text 15"/>
          <p:cNvSpPr/>
          <p:nvPr/>
        </p:nvSpPr>
        <p:spPr>
          <a:xfrm>
            <a:off x="8046720" y="156362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Aplikasi Mobile</a:t>
            </a:r>
            <a:endParaRPr lang="en-US" sz="1600" dirty="0"/>
          </a:p>
        </p:txBody>
      </p:sp>
      <p:sp>
        <p:nvSpPr>
          <p:cNvPr id="18" name="Text 16"/>
          <p:cNvSpPr/>
          <p:nvPr/>
        </p:nvSpPr>
        <p:spPr>
          <a:xfrm>
            <a:off x="8046720" y="194767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Akses lebih mudah lewat Android/iOS untuk pengguna.</a:t>
            </a:r>
            <a:endParaRPr lang="en-US" sz="1150" dirty="0"/>
          </a:p>
        </p:txBody>
      </p:sp>
      <p:sp>
        <p:nvSpPr>
          <p:cNvPr id="19" name="Shape 17"/>
          <p:cNvSpPr/>
          <p:nvPr/>
        </p:nvSpPr>
        <p:spPr>
          <a:xfrm>
            <a:off x="65836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0" name="Shape 18"/>
          <p:cNvSpPr/>
          <p:nvPr/>
        </p:nvSpPr>
        <p:spPr>
          <a:xfrm>
            <a:off x="658368" y="3108960"/>
            <a:ext cx="59436" cy="1325880"/>
          </a:xfrm>
          <a:prstGeom prst="rect">
            <a:avLst/>
          </a:prstGeom>
          <a:solidFill>
            <a:srgbClr val="FFA640"/>
          </a:solidFill>
          <a:ln w="12700">
            <a:solidFill>
              <a:srgbClr val="FFA640"/>
            </a:solidFill>
            <a:prstDash val="solid"/>
          </a:ln>
        </p:spPr>
      </p:sp>
      <p:sp>
        <p:nvSpPr>
          <p:cNvPr id="21" name="Text 19"/>
          <p:cNvSpPr/>
          <p:nvPr/>
        </p:nvSpPr>
        <p:spPr>
          <a:xfrm>
            <a:off x="82296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Cloud Deployment</a:t>
            </a:r>
            <a:endParaRPr lang="en-US" sz="1600" dirty="0"/>
          </a:p>
        </p:txBody>
      </p:sp>
      <p:sp>
        <p:nvSpPr>
          <p:cNvPr id="22" name="Text 20"/>
          <p:cNvSpPr/>
          <p:nvPr/>
        </p:nvSpPr>
        <p:spPr>
          <a:xfrm>
            <a:off x="82296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Sistem bisa diakses online, tidak hanya lokal XAMPP.</a:t>
            </a:r>
            <a:endParaRPr lang="en-US" sz="1150" dirty="0"/>
          </a:p>
        </p:txBody>
      </p:sp>
      <p:sp>
        <p:nvSpPr>
          <p:cNvPr id="23" name="Shape 21"/>
          <p:cNvSpPr/>
          <p:nvPr/>
        </p:nvSpPr>
        <p:spPr>
          <a:xfrm>
            <a:off x="427024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4" name="Shape 22"/>
          <p:cNvSpPr/>
          <p:nvPr/>
        </p:nvSpPr>
        <p:spPr>
          <a:xfrm>
            <a:off x="4270248" y="3108960"/>
            <a:ext cx="59436" cy="1325880"/>
          </a:xfrm>
          <a:prstGeom prst="rect">
            <a:avLst/>
          </a:prstGeom>
          <a:solidFill>
            <a:srgbClr val="1798C8"/>
          </a:solidFill>
          <a:ln w="12700">
            <a:solidFill>
              <a:srgbClr val="1798C8"/>
            </a:solidFill>
            <a:prstDash val="solid"/>
          </a:ln>
        </p:spPr>
      </p:sp>
      <p:sp>
        <p:nvSpPr>
          <p:cNvPr id="25" name="Text 23"/>
          <p:cNvSpPr/>
          <p:nvPr/>
        </p:nvSpPr>
        <p:spPr>
          <a:xfrm>
            <a:off x="443484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Notifikasi WhatsApp</a:t>
            </a:r>
            <a:endParaRPr lang="en-US" sz="1600" dirty="0"/>
          </a:p>
        </p:txBody>
      </p:sp>
      <p:sp>
        <p:nvSpPr>
          <p:cNvPr id="26" name="Text 24"/>
          <p:cNvSpPr/>
          <p:nvPr/>
        </p:nvSpPr>
        <p:spPr>
          <a:xfrm>
            <a:off x="443484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Pemberitahuan booking, saldo, dan durasi parkir secara otomatis.</a:t>
            </a:r>
            <a:endParaRPr lang="en-US" sz="1150" dirty="0"/>
          </a:p>
        </p:txBody>
      </p:sp>
      <p:sp>
        <p:nvSpPr>
          <p:cNvPr id="27" name="Shape 25"/>
          <p:cNvSpPr/>
          <p:nvPr/>
        </p:nvSpPr>
        <p:spPr>
          <a:xfrm>
            <a:off x="7882128" y="3108960"/>
            <a:ext cx="3154680" cy="1325880"/>
          </a:xfrm>
          <a:prstGeom prst="roundRect">
            <a:avLst>
              <a:gd name="adj" fmla="val 4138"/>
            </a:avLst>
          </a:prstGeom>
          <a:solidFill>
            <a:srgbClr val="13242E"/>
          </a:solidFill>
          <a:ln w="12700">
            <a:solidFill>
              <a:srgbClr val="34515E">
                <a:alpha val="92000"/>
              </a:srgbClr>
            </a:solidFill>
            <a:prstDash val="solid"/>
          </a:ln>
        </p:spPr>
      </p:sp>
      <p:sp>
        <p:nvSpPr>
          <p:cNvPr id="28" name="Shape 26"/>
          <p:cNvSpPr/>
          <p:nvPr/>
        </p:nvSpPr>
        <p:spPr>
          <a:xfrm>
            <a:off x="7882128" y="3108960"/>
            <a:ext cx="59436" cy="1325880"/>
          </a:xfrm>
          <a:prstGeom prst="rect">
            <a:avLst/>
          </a:prstGeom>
          <a:solidFill>
            <a:srgbClr val="FF7A7A"/>
          </a:solidFill>
          <a:ln w="12700">
            <a:solidFill>
              <a:srgbClr val="FF7A7A"/>
            </a:solidFill>
            <a:prstDash val="solid"/>
          </a:ln>
        </p:spPr>
      </p:sp>
      <p:sp>
        <p:nvSpPr>
          <p:cNvPr id="29" name="Text 27"/>
          <p:cNvSpPr/>
          <p:nvPr/>
        </p:nvSpPr>
        <p:spPr>
          <a:xfrm>
            <a:off x="8046720" y="3255264"/>
            <a:ext cx="2843784" cy="292608"/>
          </a:xfrm>
          <a:prstGeom prst="rect">
            <a:avLst/>
          </a:prstGeom>
          <a:noFill/>
          <a:ln/>
        </p:spPr>
        <p:txBody>
          <a:bodyPr wrap="square" lIns="0" tIns="0" rIns="0" bIns="0" rtlCol="0" anchor="ctr">
            <a:normAutofit/>
          </a:bodyPr>
          <a:lstStyle/>
          <a:p>
            <a:pPr indent="0" marL="0">
              <a:buNone/>
            </a:pPr>
            <a:r>
              <a:rPr lang="en-US" sz="1600" b="1" dirty="0">
                <a:solidFill>
                  <a:srgbClr val="EEF7F4"/>
                </a:solidFill>
              </a:rPr>
              <a:t>AI Chatbot Lebih Pintar</a:t>
            </a:r>
            <a:endParaRPr lang="en-US" sz="1600" dirty="0"/>
          </a:p>
        </p:txBody>
      </p:sp>
      <p:sp>
        <p:nvSpPr>
          <p:cNvPr id="30" name="Text 28"/>
          <p:cNvSpPr/>
          <p:nvPr/>
        </p:nvSpPr>
        <p:spPr>
          <a:xfrm>
            <a:off x="8046720" y="3639312"/>
            <a:ext cx="2843784" cy="667512"/>
          </a:xfrm>
          <a:prstGeom prst="rect">
            <a:avLst/>
          </a:prstGeom>
          <a:noFill/>
          <a:ln/>
        </p:spPr>
        <p:txBody>
          <a:bodyPr wrap="square" lIns="0" tIns="0" rIns="0" bIns="0" rtlCol="0" anchor="ctr">
            <a:normAutofit/>
          </a:bodyPr>
          <a:lstStyle/>
          <a:p>
            <a:pPr indent="0" marL="0">
              <a:buNone/>
            </a:pPr>
            <a:r>
              <a:rPr lang="en-US" sz="1150" dirty="0">
                <a:solidFill>
                  <a:srgbClr val="A8B9C2"/>
                </a:solidFill>
              </a:rPr>
              <a:t>Bantuan pengguna yang lebih kontekstual dan responsif.</a:t>
            </a:r>
            <a:endParaRPr lang="en-US" sz="1150" dirty="0"/>
          </a:p>
        </p:txBody>
      </p:sp>
      <p:sp>
        <p:nvSpPr>
          <p:cNvPr id="32" name="Text 29"/>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09 - Pengembangan</a:t>
            </a:r>
            <a:endParaRPr lang="en-US" sz="850" dirty="0"/>
          </a:p>
        </p:txBody>
      </p:sp>
      <p:sp>
        <p:nvSpPr>
          <p:cNvPr id="33" name="Text 30"/>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1:00</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016"/>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016"/>
          </a:solidFill>
          <a:ln w="12700">
            <a:solidFill>
              <a:srgbClr val="071016"/>
            </a:solidFill>
            <a:prstDash val="solid"/>
          </a:ln>
        </p:spPr>
      </p:sp>
      <p:sp>
        <p:nvSpPr>
          <p:cNvPr id="3" name="Shape 1"/>
          <p:cNvSpPr/>
          <p:nvPr/>
        </p:nvSpPr>
        <p:spPr>
          <a:xfrm>
            <a:off x="-1143000" y="-1097280"/>
            <a:ext cx="4023360" cy="4023360"/>
          </a:xfrm>
          <a:prstGeom prst="arc">
            <a:avLst/>
          </a:prstGeom>
          <a:solidFill>
            <a:srgbClr val="35D0FF">
              <a:alpha val="22000"/>
            </a:srgbClr>
          </a:solidFill>
          <a:ln w="12700">
            <a:solidFill>
              <a:srgbClr val="35D0FF">
                <a:alpha val="0"/>
              </a:srgbClr>
            </a:solidFill>
            <a:prstDash val="solid"/>
          </a:ln>
        </p:spPr>
      </p:sp>
      <p:sp>
        <p:nvSpPr>
          <p:cNvPr id="4" name="Shape 2"/>
          <p:cNvSpPr/>
          <p:nvPr/>
        </p:nvSpPr>
        <p:spPr>
          <a:xfrm>
            <a:off x="9784080" y="4114800"/>
            <a:ext cx="3931920" cy="3931920"/>
          </a:xfrm>
          <a:prstGeom prst="arc">
            <a:avLst/>
          </a:prstGeom>
          <a:solidFill>
            <a:srgbClr val="77E08F">
              <a:alpha val="16000"/>
            </a:srgbClr>
          </a:solidFill>
          <a:ln w="12700">
            <a:solidFill>
              <a:srgbClr val="77E08F">
                <a:alpha val="0"/>
              </a:srgbClr>
            </a:solidFill>
            <a:prstDash val="solid"/>
          </a:ln>
        </p:spPr>
      </p:sp>
      <p:pic>
        <p:nvPicPr>
          <p:cNvPr id="5" name="Image 0" descr="C:\xampp\htdocs\spotfinder-promo\assets\img\favicon.png">    </p:cNvPr>
          <p:cNvPicPr>
            <a:picLocks noChangeAspect="1"/>
          </p:cNvPicPr>
          <p:nvPr/>
        </p:nvPicPr>
        <p:blipFill>
          <a:blip r:embed="rId1"/>
          <a:stretch>
            <a:fillRect/>
          </a:stretch>
        </p:blipFill>
        <p:spPr>
          <a:xfrm>
            <a:off x="5596128" y="658368"/>
            <a:ext cx="640080" cy="640080"/>
          </a:xfrm>
          <a:prstGeom prst="rect">
            <a:avLst/>
          </a:prstGeom>
        </p:spPr>
      </p:pic>
      <p:sp>
        <p:nvSpPr>
          <p:cNvPr id="6" name="Text 3"/>
          <p:cNvSpPr/>
          <p:nvPr/>
        </p:nvSpPr>
        <p:spPr>
          <a:xfrm>
            <a:off x="5230368" y="1572768"/>
            <a:ext cx="1645920" cy="201168"/>
          </a:xfrm>
          <a:prstGeom prst="rect">
            <a:avLst/>
          </a:prstGeom>
          <a:noFill/>
          <a:ln/>
        </p:spPr>
        <p:txBody>
          <a:bodyPr wrap="square" lIns="0" tIns="0" rIns="0" bIns="0" rtlCol="0" anchor="ctr"/>
          <a:lstStyle/>
          <a:p>
            <a:pPr indent="0" marL="0">
              <a:buNone/>
            </a:pPr>
            <a:r>
              <a:rPr lang="en-US" sz="1000" b="1" dirty="0">
                <a:solidFill>
                  <a:srgbClr val="77E08F"/>
                </a:solidFill>
              </a:rPr>
              <a:t>PENUTUP</a:t>
            </a:r>
            <a:endParaRPr lang="en-US" sz="1000" dirty="0"/>
          </a:p>
        </p:txBody>
      </p:sp>
      <p:sp>
        <p:nvSpPr>
          <p:cNvPr id="7" name="Text 4"/>
          <p:cNvSpPr/>
          <p:nvPr/>
        </p:nvSpPr>
        <p:spPr>
          <a:xfrm>
            <a:off x="1143000" y="1993392"/>
            <a:ext cx="9921240" cy="1097280"/>
          </a:xfrm>
          <a:prstGeom prst="rect">
            <a:avLst/>
          </a:prstGeom>
          <a:noFill/>
          <a:ln/>
        </p:spPr>
        <p:txBody>
          <a:bodyPr wrap="square" lIns="254" tIns="254" rIns="254" bIns="254" rtlCol="0" anchor="ctr">
            <a:normAutofit/>
          </a:bodyPr>
          <a:lstStyle/>
          <a:p>
            <a:pPr algn="ctr" indent="0" marL="0">
              <a:buNone/>
            </a:pPr>
            <a:r>
              <a:rPr lang="en-US" sz="3500" b="1" dirty="0">
                <a:solidFill>
                  <a:srgbClr val="EEF7F4"/>
                </a:solidFill>
                <a:latin typeface="Aptos Display" pitchFamily="34" charset="0"/>
                <a:ea typeface="Aptos Display" pitchFamily="34" charset="-122"/>
                <a:cs typeface="Aptos Display" pitchFamily="34" charset="-120"/>
              </a:rPr>
              <a:t>SpotFinder membuat proses parkir lebih cepat, lebih tertata, dan lebih mudah dipantau.</a:t>
            </a:r>
            <a:endParaRPr lang="en-US" sz="3500" dirty="0"/>
          </a:p>
        </p:txBody>
      </p:sp>
      <p:sp>
        <p:nvSpPr>
          <p:cNvPr id="8" name="Text 5"/>
          <p:cNvSpPr/>
          <p:nvPr/>
        </p:nvSpPr>
        <p:spPr>
          <a:xfrm>
            <a:off x="1828800" y="3703320"/>
            <a:ext cx="8549640" cy="658368"/>
          </a:xfrm>
          <a:prstGeom prst="rect">
            <a:avLst/>
          </a:prstGeom>
          <a:noFill/>
          <a:ln/>
        </p:spPr>
        <p:txBody>
          <a:bodyPr wrap="square" lIns="254" tIns="254" rIns="254" bIns="254" rtlCol="0" anchor="ctr">
            <a:normAutofit/>
          </a:bodyPr>
          <a:lstStyle/>
          <a:p>
            <a:pPr algn="ctr" indent="0" marL="0">
              <a:buNone/>
            </a:pPr>
            <a:r>
              <a:rPr lang="en-US" sz="1700" dirty="0">
                <a:solidFill>
                  <a:srgbClr val="A8B9C2"/>
                </a:solidFill>
              </a:rPr>
              <a:t>Dengan menggabungkan web, database, IoT, dan AI voice assistant, project ini menjadi prototype smart parking yang dapat terus dikembangkan.</a:t>
            </a:r>
            <a:endParaRPr lang="en-US" sz="1700" dirty="0"/>
          </a:p>
        </p:txBody>
      </p:sp>
      <p:sp>
        <p:nvSpPr>
          <p:cNvPr id="9" name="Shape 6"/>
          <p:cNvSpPr/>
          <p:nvPr/>
        </p:nvSpPr>
        <p:spPr>
          <a:xfrm>
            <a:off x="4800600" y="4892040"/>
            <a:ext cx="2606040" cy="502920"/>
          </a:xfrm>
          <a:prstGeom prst="roundRect">
            <a:avLst/>
          </a:prstGeom>
          <a:solidFill>
            <a:srgbClr val="77E08F"/>
          </a:solidFill>
          <a:ln w="12700">
            <a:solidFill>
              <a:srgbClr val="77E08F"/>
            </a:solidFill>
            <a:prstDash val="solid"/>
          </a:ln>
        </p:spPr>
      </p:sp>
      <p:sp>
        <p:nvSpPr>
          <p:cNvPr id="10" name="Text 7"/>
          <p:cNvSpPr/>
          <p:nvPr/>
        </p:nvSpPr>
        <p:spPr>
          <a:xfrm>
            <a:off x="4800600" y="5038344"/>
            <a:ext cx="2606040" cy="137160"/>
          </a:xfrm>
          <a:prstGeom prst="rect">
            <a:avLst/>
          </a:prstGeom>
          <a:noFill/>
          <a:ln/>
        </p:spPr>
        <p:txBody>
          <a:bodyPr wrap="square" lIns="254" tIns="254" rIns="254" bIns="254" rtlCol="0" anchor="ctr">
            <a:normAutofit/>
          </a:bodyPr>
          <a:lstStyle/>
          <a:p>
            <a:pPr algn="ctr" indent="0" marL="0">
              <a:buNone/>
            </a:pPr>
            <a:r>
              <a:rPr lang="en-US" sz="1600" b="1" dirty="0">
                <a:solidFill>
                  <a:srgbClr val="071016"/>
                </a:solidFill>
              </a:rPr>
              <a:t>Terima kasih</a:t>
            </a:r>
            <a:endParaRPr lang="en-US" sz="1600" dirty="0"/>
          </a:p>
        </p:txBody>
      </p:sp>
      <p:sp>
        <p:nvSpPr>
          <p:cNvPr id="12" name="Text 8"/>
          <p:cNvSpPr/>
          <p:nvPr/>
        </p:nvSpPr>
        <p:spPr>
          <a:xfrm>
            <a:off x="621792" y="6446520"/>
            <a:ext cx="4572000" cy="201168"/>
          </a:xfrm>
          <a:prstGeom prst="rect">
            <a:avLst/>
          </a:prstGeom>
          <a:noFill/>
          <a:ln/>
        </p:spPr>
        <p:txBody>
          <a:bodyPr wrap="square" lIns="0" tIns="0" rIns="0" bIns="0" rtlCol="0" anchor="ctr"/>
          <a:lstStyle/>
          <a:p>
            <a:pPr indent="0" marL="0">
              <a:buNone/>
            </a:pPr>
            <a:r>
              <a:rPr lang="en-US" sz="850" dirty="0">
                <a:solidFill>
                  <a:srgbClr val="B7C8D0">
                    <a:alpha val="82000"/>
                  </a:srgbClr>
                </a:solidFill>
              </a:rPr>
              <a:t>10 - Penutup</a:t>
            </a:r>
            <a:endParaRPr lang="en-US" sz="850" dirty="0"/>
          </a:p>
        </p:txBody>
      </p:sp>
      <p:sp>
        <p:nvSpPr>
          <p:cNvPr id="13" name="Text 9"/>
          <p:cNvSpPr/>
          <p:nvPr/>
        </p:nvSpPr>
        <p:spPr>
          <a:xfrm>
            <a:off x="10561320" y="6446520"/>
            <a:ext cx="1005840" cy="201168"/>
          </a:xfrm>
          <a:prstGeom prst="rect">
            <a:avLst/>
          </a:prstGeom>
          <a:noFill/>
          <a:ln/>
        </p:spPr>
        <p:txBody>
          <a:bodyPr wrap="square" lIns="0" tIns="0" rIns="0" bIns="0" rtlCol="0" anchor="ctr"/>
          <a:lstStyle/>
          <a:p>
            <a:pPr algn="r" indent="0" marL="0">
              <a:buNone/>
            </a:pPr>
            <a:r>
              <a:rPr lang="en-US" sz="850" dirty="0">
                <a:solidFill>
                  <a:srgbClr val="B7C8D0">
                    <a:alpha val="82000"/>
                  </a:srgbClr>
                </a:solidFill>
              </a:rPr>
              <a:t>0:50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SpotFinder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SpotFinder - Presentasi 10 Menit</dc:title>
  <dc:subject>Presentasi Project SpotFinder</dc:subject>
  <dc:creator>Zahran Al Syafit</dc:creator>
  <cp:lastModifiedBy>Zahran Al Syafit</cp:lastModifiedBy>
  <cp:revision>1</cp:revision>
  <dcterms:created xsi:type="dcterms:W3CDTF">2026-05-17T03:48:07Z</dcterms:created>
  <dcterms:modified xsi:type="dcterms:W3CDTF">2026-05-17T03:48:07Z</dcterms:modified>
</cp:coreProperties>
</file>