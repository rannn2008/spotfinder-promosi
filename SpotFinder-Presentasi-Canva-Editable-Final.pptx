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Relationships xmlns="http://schemas.openxmlformats.org/package/2006/relationships">
<Relationship Id="rIdLayout" Type="http://schemas.openxmlformats.org/officeDocument/2006/relationships/slideLayout" Target="../slideLayouts/slideLayout1.xml"/>
<Relationship Id="rId1" Type="http://schemas.openxmlformats.org/officeDocument/2006/relationships/image" Target="../media/logo.png"/>
<Relationship Id="rId2" Type="http://schemas.openxmlformats.org/officeDocument/2006/relationships/image" Target="../media/hero.png"/>
</Relationships>
</file>

<file path=ppt/slides/_rels/slide2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3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4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5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6.xml.rels><Relationships xmlns="http://schemas.openxmlformats.org/package/2006/relationships">
<Relationship Id="rIdLayout" Type="http://schemas.openxmlformats.org/officeDocument/2006/relationships/slideLayout" Target="../slideLayouts/slideLayout1.xml"/>
<Relationship Id="rId1" Type="http://schemas.openxmlformats.org/officeDocument/2006/relationships/image" Target="../media/screen1.png"/>
<Relationship Id="rId2" Type="http://schemas.openxmlformats.org/officeDocument/2006/relationships/image" Target="../media/screen2.png"/>
<Relationship Id="rId3" Type="http://schemas.openxmlformats.org/officeDocument/2006/relationships/image" Target="../media/screen3.png"/>
</Relationships>
</file>

<file path=ppt/slides/_rels/slide7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8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9.xml.rels>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10.xml.rels><Relationships xmlns="http://schemas.openxmlformats.org/package/2006/relationships">
<Relationship Id="rIdLayout" Type="http://schemas.openxmlformats.org/officeDocument/2006/relationships/slideLayout" Target="../slideLayouts/slideLayout1.xml"/>
<Relationship Id="r" Type="http://schemas.openxmlformats.org/officeDocument/2006/relationships/image" Target="I"/>
<Relationship Id="." Type="http://schemas.openxmlformats.org/officeDocument/2006/relationships/image" Target=".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00000" y="760000"/>
            <a:ext cx="7200000" cy="15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5800" b="1">
                <a:solidFill>
                  <a:srgbClr val="EEF7F4"/>
                </a:solidFill>
              </a:rPr>
              <a:t>SPOTFINDER</a:t>
            </a:r>
          </a:p>
        </p:txBody>
      </p:sp>
      <p:sp>
        <p:nvSpPr>
          <p:cNvPr id="3" name="Subtitle"/>
          <p:cNvSpPr/>
          <p:nvPr/>
        </p:nvSpPr>
        <p:spPr>
          <a:xfrm>
            <a:off x="620000" y="2200000"/>
            <a:ext cx="6400000" cy="11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800" b="1">
                <a:solidFill>
                  <a:srgbClr val="35D0FF"/>
                </a:solidFill>
              </a:rPr>
              <a:t>Sistem Parkir Cerdas Berbasis IoT dan Web</a:t>
            </a:r>
          </a:p>
        </p:txBody>
      </p:sp>
      <p:sp>
        <p:nvSpPr>
          <p:cNvPr id="4" name="Byline"/>
          <p:cNvSpPr/>
          <p:nvPr/>
        </p:nvSpPr>
        <p:spPr>
          <a:xfrm>
            <a:off x="620000" y="3600000"/>
            <a:ext cx="5200000" cy="7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000">
                <a:solidFill>
                  <a:srgbClr val="A8B9C2"/>
                </a:solidFill>
              </a:rPr>
              <a:t>By: Zahran Al Syafit</a:t>
            </a:r>
          </a:p>
          <a:p>
            <a:r>
              <a:rPr lang="id-ID" sz="2000">
                <a:solidFill>
                  <a:srgbClr val="A8B9C2"/>
                </a:solidFill>
              </a:rPr>
              <a:t>Durasi presentasi: 10 menit</a:t>
            </a:r>
          </a:p>
        </p:txBody>
      </p:sp>
      <p:pic>
        <p:nvPicPr>
          <p:cNvPr id="5" name="Hero"/>
          <p:cNvPicPr/>
          <p:nvPr/>
        </p:nvPicPr>
        <p:blipFill>
          <a:blip r:embed="rId2"/>
          <a:stretch>
            <a:fillRect/>
          </a:stretch>
        </p:blipFill>
        <p:spPr>
          <a:xfrm>
            <a:off x="7850000" y="850000"/>
            <a:ext cx="3300000" cy="3900000"/>
          </a:xfrm>
          <a:prstGeom prst="rect">
            <a:avLst/>
          </a:prstGeom>
        </p:spPr>
      </p:pic>
      <p:pic>
        <p:nvPicPr>
          <p:cNvPr id="6" name="Logo"/>
          <p:cNvPicPr/>
          <p:nvPr/>
        </p:nvPicPr>
        <p:blipFill>
          <a:blip r:embed="rId1"/>
          <a:stretch>
            <a:fillRect/>
          </a:stretch>
        </p:blipFill>
        <p:spPr>
          <a:xfrm>
            <a:off x="620000" y="5550000"/>
            <a:ext cx="520000" cy="5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4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Masalah yang Ingin Diselesaikan</a:t>
            </a:r>
          </a:p>
        </p:txBody>
      </p:sp>
      <p:sp>
        <p:nvSpPr>
          <p:cNvPr id="3" name="Bullet List"/>
          <p:cNvSpPr/>
          <p:nvPr/>
        </p:nvSpPr>
        <p:spPr>
          <a:xfrm>
            <a:off x="720000" y="1600000"/>
            <a:ext cx="5300000" cy="33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/>
          <a:lstStyle/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Pengguna sering membuang waktu mencari slot kosong.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Pengelola sulit melihat kapasitas parkir secara cepat.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Transaksi dan riwayat kendaraan belum terpusat.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Palang dan laporan masih banyak dilakukan secara manual.</a:t>
            </a:r>
          </a:p>
        </p:txBody>
      </p:sp>
      <p:sp>
        <p:nvSpPr>
          <p:cNvPr id="4" name="Card"/>
          <p:cNvSpPr/>
          <p:nvPr/>
        </p:nvSpPr>
        <p:spPr>
          <a:xfrm>
            <a:off x="6800000" y="1600000"/>
            <a:ext cx="1900000" cy="14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Waktu</a:t>
            </a:r>
          </a:p>
          <a:p>
            <a:r>
              <a:rPr lang="id-ID" sz="1500">
                <a:solidFill>
                  <a:srgbClr val="A8B9C2"/>
                </a:solidFill>
              </a:rPr>
              <a:t>Pencarian parkir lebih lama.</a:t>
            </a:r>
          </a:p>
        </p:txBody>
      </p:sp>
      <p:sp>
        <p:nvSpPr>
          <p:cNvPr id="5" name="Card"/>
          <p:cNvSpPr/>
          <p:nvPr/>
        </p:nvSpPr>
        <p:spPr>
          <a:xfrm>
            <a:off x="8950000" y="1600000"/>
            <a:ext cx="1900000" cy="14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Data</a:t>
            </a:r>
          </a:p>
          <a:p>
            <a:r>
              <a:rPr lang="id-ID" sz="1500">
                <a:solidFill>
                  <a:srgbClr val="A8B9C2"/>
                </a:solidFill>
              </a:rPr>
              <a:t>Status dan riwayat belum rapi.</a:t>
            </a:r>
          </a:p>
        </p:txBody>
      </p:sp>
      <p:sp>
        <p:nvSpPr>
          <p:cNvPr id="6" name="Card"/>
          <p:cNvSpPr/>
          <p:nvPr/>
        </p:nvSpPr>
        <p:spPr>
          <a:xfrm>
            <a:off x="6800000" y="3350000"/>
            <a:ext cx="1900000" cy="14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Akses</a:t>
            </a:r>
          </a:p>
          <a:p>
            <a:r>
              <a:rPr lang="id-ID" sz="1500">
                <a:solidFill>
                  <a:srgbClr val="A8B9C2"/>
                </a:solidFill>
              </a:rPr>
              <a:t>Kontrol masuk-keluar kurang otomatis.</a:t>
            </a:r>
          </a:p>
        </p:txBody>
      </p:sp>
      <p:sp>
        <p:nvSpPr>
          <p:cNvPr id="7" name="Card"/>
          <p:cNvSpPr/>
          <p:nvPr/>
        </p:nvSpPr>
        <p:spPr>
          <a:xfrm>
            <a:off x="8950000" y="3350000"/>
            <a:ext cx="1900000" cy="14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Laporan</a:t>
            </a:r>
          </a:p>
          <a:p>
            <a:r>
              <a:rPr lang="id-ID" sz="1500">
                <a:solidFill>
                  <a:srgbClr val="A8B9C2"/>
                </a:solidFill>
              </a:rPr>
              <a:t>Rekap operasional lambat.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Tujuan SpotFinder</a:t>
            </a:r>
          </a:p>
        </p:txBody>
      </p:sp>
      <p:sp>
        <p:nvSpPr>
          <p:cNvPr id="3" name="Lead"/>
          <p:cNvSpPr/>
          <p:nvPr/>
        </p:nvSpPr>
        <p:spPr>
          <a:xfrm>
            <a:off x="620000" y="1400000"/>
            <a:ext cx="9800000" cy="9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300">
                <a:solidFill>
                  <a:srgbClr val="A8B9C2"/>
                </a:solidFill>
              </a:rPr>
              <a:t>Membuat sistem parkir yang lebih cepat, tertata, real-time, dan mudah dikelola oleh pengguna maupun admin.</a:t>
            </a:r>
          </a:p>
        </p:txBody>
      </p:sp>
      <p:sp>
        <p:nvSpPr>
          <p:cNvPr id="4" name="Card"/>
          <p:cNvSpPr/>
          <p:nvPr/>
        </p:nvSpPr>
        <p:spPr>
          <a:xfrm>
            <a:off x="700000" y="275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Real-time Slot</a:t>
            </a:r>
          </a:p>
          <a:p>
            <a:r>
              <a:rPr lang="id-ID" sz="1500">
                <a:solidFill>
                  <a:srgbClr val="A8B9C2"/>
                </a:solidFill>
              </a:rPr>
              <a:t>Slot tersedia, terisi, booking, dan pelanggaran bisa dipantau langsung.</a:t>
            </a:r>
          </a:p>
        </p:txBody>
      </p:sp>
      <p:sp>
        <p:nvSpPr>
          <p:cNvPr id="5" name="Card"/>
          <p:cNvSpPr/>
          <p:nvPr/>
        </p:nvSpPr>
        <p:spPr>
          <a:xfrm>
            <a:off x="3300000" y="275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RFID Access</a:t>
            </a:r>
          </a:p>
          <a:p>
            <a:r>
              <a:rPr lang="id-ID" sz="1500">
                <a:solidFill>
                  <a:srgbClr val="A8B9C2"/>
                </a:solidFill>
              </a:rPr>
              <a:t>Masuk parkir memakai kartu member yang diverifikasi server.</a:t>
            </a:r>
          </a:p>
        </p:txBody>
      </p:sp>
      <p:sp>
        <p:nvSpPr>
          <p:cNvPr id="6" name="Card"/>
          <p:cNvSpPr/>
          <p:nvPr/>
        </p:nvSpPr>
        <p:spPr>
          <a:xfrm>
            <a:off x="5900000" y="275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Cashless Wallet</a:t>
            </a:r>
          </a:p>
          <a:p>
            <a:r>
              <a:rPr lang="id-ID" sz="1500">
                <a:solidFill>
                  <a:srgbClr val="A8B9C2"/>
                </a:solidFill>
              </a:rPr>
              <a:t>Saldo, top-up, booking fee, dan biaya parkir tersimpan digital.</a:t>
            </a:r>
          </a:p>
        </p:txBody>
      </p:sp>
      <p:sp>
        <p:nvSpPr>
          <p:cNvPr id="7" name="Card"/>
          <p:cNvSpPr/>
          <p:nvPr/>
        </p:nvSpPr>
        <p:spPr>
          <a:xfrm>
            <a:off x="8500000" y="275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Admin Dashboard</a:t>
            </a:r>
          </a:p>
          <a:p>
            <a:r>
              <a:rPr lang="id-ID" sz="1500">
                <a:solidFill>
                  <a:srgbClr val="A8B9C2"/>
                </a:solidFill>
              </a:rPr>
              <a:t>Admin mengelola member, tarif, gate, analytics, dan laporan.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Fitur Utama</a:t>
            </a:r>
          </a:p>
        </p:txBody>
      </p:sp>
      <p:sp>
        <p:nvSpPr>
          <p:cNvPr id="3" name="Card"/>
          <p:cNvSpPr/>
          <p:nvPr/>
        </p:nvSpPr>
        <p:spPr>
          <a:xfrm>
            <a:off x="620000" y="150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Client Portal</a:t>
            </a:r>
          </a:p>
          <a:p>
            <a:r>
              <a:rPr lang="id-ID" sz="1500">
                <a:solidFill>
                  <a:srgbClr val="A8B9C2"/>
                </a:solidFill>
              </a:rPr>
              <a:t>Login, registrasi, profil, saldo, riwayat, dan chat support.</a:t>
            </a:r>
          </a:p>
        </p:txBody>
      </p:sp>
      <p:sp>
        <p:nvSpPr>
          <p:cNvPr id="4" name="Card"/>
          <p:cNvSpPr/>
          <p:nvPr/>
        </p:nvSpPr>
        <p:spPr>
          <a:xfrm>
            <a:off x="4450000" y="150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Booking Slot</a:t>
            </a:r>
          </a:p>
          <a:p>
            <a:r>
              <a:rPr lang="id-ID" sz="1500">
                <a:solidFill>
                  <a:srgbClr val="A8B9C2"/>
                </a:solidFill>
              </a:rPr>
              <a:t>Pengguna dapat memesan slot kosong dari dashboard.</a:t>
            </a:r>
          </a:p>
        </p:txBody>
      </p:sp>
      <p:sp>
        <p:nvSpPr>
          <p:cNvPr id="5" name="Card"/>
          <p:cNvSpPr/>
          <p:nvPr/>
        </p:nvSpPr>
        <p:spPr>
          <a:xfrm>
            <a:off x="8280000" y="150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Admin Panel</a:t>
            </a:r>
          </a:p>
          <a:p>
            <a:r>
              <a:rPr lang="id-ID" sz="1500">
                <a:solidFill>
                  <a:srgbClr val="A8B9C2"/>
                </a:solidFill>
              </a:rPr>
              <a:t>Kelola RFID, member, top-up, tarif, history, dan analytics.</a:t>
            </a:r>
          </a:p>
        </p:txBody>
      </p:sp>
      <p:sp>
        <p:nvSpPr>
          <p:cNvPr id="6" name="Card"/>
          <p:cNvSpPr/>
          <p:nvPr/>
        </p:nvSpPr>
        <p:spPr>
          <a:xfrm>
            <a:off x="620000" y="325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IoT Detection</a:t>
            </a:r>
          </a:p>
          <a:p>
            <a:r>
              <a:rPr lang="id-ID" sz="1500">
                <a:solidFill>
                  <a:srgbClr val="A8B9C2"/>
                </a:solidFill>
              </a:rPr>
              <a:t>Sensor ultrasonik membaca keberadaan kendaraan per slot.</a:t>
            </a:r>
          </a:p>
        </p:txBody>
      </p:sp>
      <p:sp>
        <p:nvSpPr>
          <p:cNvPr id="7" name="Card"/>
          <p:cNvSpPr/>
          <p:nvPr/>
        </p:nvSpPr>
        <p:spPr>
          <a:xfrm>
            <a:off x="4450000" y="325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Auto Gate</a:t>
            </a:r>
          </a:p>
          <a:p>
            <a:r>
              <a:rPr lang="id-ID" sz="1500">
                <a:solidFill>
                  <a:srgbClr val="A8B9C2"/>
                </a:solidFill>
              </a:rPr>
              <a:t>Servo membuka palang setelah akses dinyatakan valid.</a:t>
            </a:r>
          </a:p>
        </p:txBody>
      </p:sp>
      <p:sp>
        <p:nvSpPr>
          <p:cNvPr id="8" name="Card"/>
          <p:cNvSpPr/>
          <p:nvPr/>
        </p:nvSpPr>
        <p:spPr>
          <a:xfrm>
            <a:off x="8280000" y="3250000"/>
            <a:ext cx="3300000" cy="12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AI Voice</a:t>
            </a:r>
          </a:p>
          <a:p>
            <a:r>
              <a:rPr lang="id-ID" sz="1500">
                <a:solidFill>
                  <a:srgbClr val="A8B9C2"/>
                </a:solidFill>
              </a:rPr>
              <a:t>Notifikasi suara untuk welcome, goodbye, dan status sistem.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Cara Kerja Sistem</a:t>
            </a:r>
          </a:p>
        </p:txBody>
      </p:sp>
      <p:sp>
        <p:nvSpPr>
          <p:cNvPr id="3" name="Card"/>
          <p:cNvSpPr/>
          <p:nvPr/>
        </p:nvSpPr>
        <p:spPr>
          <a:xfrm>
            <a:off x="520000" y="1600000"/>
            <a:ext cx="2000000" cy="2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1. Login</a:t>
            </a:r>
          </a:p>
          <a:p>
            <a:r>
              <a:rPr lang="id-ID" sz="1500">
                <a:solidFill>
                  <a:srgbClr val="A8B9C2"/>
                </a:solidFill>
              </a:rPr>
              <a:t>Pengguna masuk atau daftar kendaraan.</a:t>
            </a:r>
          </a:p>
        </p:txBody>
      </p:sp>
      <p:sp>
        <p:nvSpPr>
          <p:cNvPr id="4" name="Card"/>
          <p:cNvSpPr/>
          <p:nvPr/>
        </p:nvSpPr>
        <p:spPr>
          <a:xfrm>
            <a:off x="2700000" y="1600000"/>
            <a:ext cx="2000000" cy="2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2. Cek Slot</a:t>
            </a:r>
          </a:p>
          <a:p>
            <a:r>
              <a:rPr lang="id-ID" sz="1500">
                <a:solidFill>
                  <a:srgbClr val="A8B9C2"/>
                </a:solidFill>
              </a:rPr>
              <a:t>Dashboard menampilkan slot kosong dan rekomendasi.</a:t>
            </a:r>
          </a:p>
        </p:txBody>
      </p:sp>
      <p:sp>
        <p:nvSpPr>
          <p:cNvPr id="5" name="Card"/>
          <p:cNvSpPr/>
          <p:nvPr/>
        </p:nvSpPr>
        <p:spPr>
          <a:xfrm>
            <a:off x="4880000" y="1600000"/>
            <a:ext cx="2000000" cy="2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3. Scan RFID</a:t>
            </a:r>
          </a:p>
          <a:p>
            <a:r>
              <a:rPr lang="id-ID" sz="1500">
                <a:solidFill>
                  <a:srgbClr val="A8B9C2"/>
                </a:solidFill>
              </a:rPr>
              <a:t>UID kartu dikirim ke server untuk validasi.</a:t>
            </a:r>
          </a:p>
        </p:txBody>
      </p:sp>
      <p:sp>
        <p:nvSpPr>
          <p:cNvPr id="6" name="Card"/>
          <p:cNvSpPr/>
          <p:nvPr/>
        </p:nvSpPr>
        <p:spPr>
          <a:xfrm>
            <a:off x="7060000" y="1600000"/>
            <a:ext cx="2000000" cy="2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4. Sensor</a:t>
            </a:r>
          </a:p>
          <a:p>
            <a:r>
              <a:rPr lang="id-ID" sz="1500">
                <a:solidFill>
                  <a:srgbClr val="A8B9C2"/>
                </a:solidFill>
              </a:rPr>
              <a:t>ESP32 membaca slot dan memperbarui status.</a:t>
            </a:r>
          </a:p>
        </p:txBody>
      </p:sp>
      <p:sp>
        <p:nvSpPr>
          <p:cNvPr id="7" name="Card"/>
          <p:cNvSpPr/>
          <p:nvPr/>
        </p:nvSpPr>
        <p:spPr>
          <a:xfrm>
            <a:off x="9240000" y="1600000"/>
            <a:ext cx="2000000" cy="2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5. Keluar</a:t>
            </a:r>
          </a:p>
          <a:p>
            <a:r>
              <a:rPr lang="id-ID" sz="1500">
                <a:solidFill>
                  <a:srgbClr val="A8B9C2"/>
                </a:solidFill>
              </a:rPr>
              <a:t>Biaya dihitung, riwayat tersimpan, struk bisa dicetak.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430000"/>
            <a:ext cx="9600000" cy="6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200" b="1">
                <a:solidFill>
                  <a:srgbClr val="EEF7F4"/>
                </a:solidFill>
              </a:rPr>
              <a:t>Tampilan Aplikasi</a:t>
            </a:r>
          </a:p>
        </p:txBody>
      </p:sp>
      <p:pic>
        <p:nvPicPr>
          <p:cNvPr id="3" name="Screen 1"/>
          <p:cNvPicPr/>
          <p:nvPr/>
        </p:nvPicPr>
        <p:blipFill>
          <a:blip r:embed="rId1"/>
          <a:stretch>
            <a:fillRect/>
          </a:stretch>
        </p:blipFill>
        <p:spPr>
          <a:xfrm>
            <a:off x="820000" y="1300000"/>
            <a:ext cx="2750000" cy="3550000"/>
          </a:xfrm>
          <a:prstGeom prst="rect">
            <a:avLst/>
          </a:prstGeom>
        </p:spPr>
      </p:pic>
      <p:pic>
        <p:nvPicPr>
          <p:cNvPr id="4" name="Screen 2"/>
          <p:cNvPicPr/>
          <p:nvPr/>
        </p:nvPicPr>
        <p:blipFill>
          <a:blip r:embed="rId2"/>
          <a:stretch>
            <a:fillRect/>
          </a:stretch>
        </p:blipFill>
        <p:spPr>
          <a:xfrm>
            <a:off x="4620000" y="1300000"/>
            <a:ext cx="2750000" cy="3550000"/>
          </a:xfrm>
          <a:prstGeom prst="rect">
            <a:avLst/>
          </a:prstGeom>
        </p:spPr>
      </p:pic>
      <p:pic>
        <p:nvPicPr>
          <p:cNvPr id="5" name="Screen 3"/>
          <p:cNvPicPr/>
          <p:nvPr/>
        </p:nvPicPr>
        <p:blipFill>
          <a:blip r:embed="rId3"/>
          <a:stretch>
            <a:fillRect/>
          </a:stretch>
        </p:blipFill>
        <p:spPr>
          <a:xfrm>
            <a:off x="8420000" y="1300000"/>
            <a:ext cx="2750000" cy="3550000"/>
          </a:xfrm>
          <a:prstGeom prst="rect">
            <a:avLst/>
          </a:prstGeom>
        </p:spPr>
      </p:pic>
      <p:sp>
        <p:nvSpPr>
          <p:cNvPr id="6" name="Caption1"/>
          <p:cNvSpPr/>
          <p:nvPr/>
        </p:nvSpPr>
        <p:spPr>
          <a:xfrm>
            <a:off x="820000" y="5050000"/>
            <a:ext cx="275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1500">
                <a:solidFill>
                  <a:srgbClr val="A8B9C2"/>
                </a:solidFill>
              </a:rPr>
              <a:t>Smart Dashboard</a:t>
            </a:r>
          </a:p>
          <a:p>
            <a:r>
              <a:rPr lang="id-ID" sz="1500">
                <a:solidFill>
                  <a:srgbClr val="A8B9C2"/>
                </a:solidFill>
              </a:rPr>
              <a:t>Slot, okupansi, aktivitas, statistik.</a:t>
            </a:r>
          </a:p>
        </p:txBody>
      </p:sp>
      <p:sp>
        <p:nvSpPr>
          <p:cNvPr id="7" name="Caption2"/>
          <p:cNvSpPr/>
          <p:nvPr/>
        </p:nvSpPr>
        <p:spPr>
          <a:xfrm>
            <a:off x="4620000" y="5050000"/>
            <a:ext cx="275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1500">
                <a:solidFill>
                  <a:srgbClr val="A8B9C2"/>
                </a:solidFill>
              </a:rPr>
              <a:t>Client Portal</a:t>
            </a:r>
          </a:p>
          <a:p>
            <a:r>
              <a:rPr lang="id-ID" sz="1500">
                <a:solidFill>
                  <a:srgbClr val="A8B9C2"/>
                </a:solidFill>
              </a:rPr>
              <a:t>Saldo, booking, riwayat, profil.</a:t>
            </a:r>
          </a:p>
        </p:txBody>
      </p:sp>
      <p:sp>
        <p:nvSpPr>
          <p:cNvPr id="8" name="Caption3"/>
          <p:cNvSpPr/>
          <p:nvPr/>
        </p:nvSpPr>
        <p:spPr>
          <a:xfrm>
            <a:off x="8420000" y="5050000"/>
            <a:ext cx="2750000" cy="62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1500">
                <a:solidFill>
                  <a:srgbClr val="A8B9C2"/>
                </a:solidFill>
              </a:rPr>
              <a:t>AI Support Chat</a:t>
            </a:r>
          </a:p>
          <a:p>
            <a:r>
              <a:rPr lang="id-ID" sz="1500">
                <a:solidFill>
                  <a:srgbClr val="A8B9C2"/>
                </a:solidFill>
              </a:rPr>
              <a:t>Bantuan client dan admin.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Teknologi yang Digunakan</a:t>
            </a:r>
          </a:p>
        </p:txBody>
      </p:sp>
      <p:sp>
        <p:nvSpPr>
          <p:cNvPr id="3" name="Bullet List"/>
          <p:cNvSpPr/>
          <p:nvPr/>
        </p:nvSpPr>
        <p:spPr>
          <a:xfrm>
            <a:off x="700000" y="1550000"/>
            <a:ext cx="5200000" cy="3600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/>
          <a:lstStyle/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PHP dan MySQL sebagai backend dan database.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HTML, CSS, JavaScript, jQuery, dan Chart.js untuk dashboard.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ESP32 sebagai pusat perangkat IoT.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RFID RC522 untuk identifikasi pengguna.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Ultrasonik, OLED, LED, buzzer, dan servo untuk prototype parkir.</a:t>
            </a:r>
          </a:p>
          <a:p>
            <a:pPr marL="342900" indent="-228600">
              <a:buChar char="â€¢"/>
            </a:pPr>
            <a:r>
              <a:rPr lang="id-ID" sz="2000">
                <a:solidFill>
                  <a:srgbClr val="A8B9C2"/>
                </a:solidFill>
              </a:rPr>
              <a:t>ElevenLabs TTS dan fallback browser voice untuk notifikasi suara.</a:t>
            </a:r>
          </a:p>
        </p:txBody>
      </p:sp>
      <p:sp>
        <p:nvSpPr>
          <p:cNvPr id="4" name="Card"/>
          <p:cNvSpPr/>
          <p:nvPr/>
        </p:nvSpPr>
        <p:spPr>
          <a:xfrm>
            <a:off x="6900000" y="1700000"/>
            <a:ext cx="4000000" cy="11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API Integration</a:t>
            </a:r>
          </a:p>
          <a:p>
            <a:r>
              <a:rPr lang="id-ID" sz="1500">
                <a:solidFill>
                  <a:srgbClr val="A8B9C2"/>
                </a:solidFill>
              </a:rPr>
              <a:t>Endpoint menghubungkan web app dengan ESP32.</a:t>
            </a:r>
          </a:p>
        </p:txBody>
      </p:sp>
      <p:sp>
        <p:nvSpPr>
          <p:cNvPr id="5" name="Card"/>
          <p:cNvSpPr/>
          <p:nvPr/>
        </p:nvSpPr>
        <p:spPr>
          <a:xfrm>
            <a:off x="6900000" y="3150000"/>
            <a:ext cx="4000000" cy="11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Database Tables</a:t>
            </a:r>
          </a:p>
          <a:p>
            <a:r>
              <a:rPr lang="id-ID" sz="1500">
                <a:solidFill>
                  <a:srgbClr val="A8B9C2"/>
                </a:solidFill>
              </a:rPr>
              <a:t>users, sensor_status, parking_history, settings, topup_requests.</a:t>
            </a:r>
          </a:p>
        </p:txBody>
      </p:sp>
      <p:sp>
        <p:nvSpPr>
          <p:cNvPr id="6" name="Card"/>
          <p:cNvSpPr/>
          <p:nvPr/>
        </p:nvSpPr>
        <p:spPr>
          <a:xfrm>
            <a:off x="6900000" y="4600000"/>
            <a:ext cx="4000000" cy="115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Scalable Idea</a:t>
            </a:r>
          </a:p>
          <a:p>
            <a:r>
              <a:rPr lang="id-ID" sz="1500">
                <a:solidFill>
                  <a:srgbClr val="A8B9C2"/>
                </a:solidFill>
              </a:rPr>
              <a:t>Dapat dikembangkan ke banyak slot, QRIS asli, dan plat recognition.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Cara Penggunaan Saat Demo</a:t>
            </a:r>
          </a:p>
        </p:txBody>
      </p:sp>
      <p:sp>
        <p:nvSpPr>
          <p:cNvPr id="3" name="Card"/>
          <p:cNvSpPr/>
          <p:nvPr/>
        </p:nvSpPr>
        <p:spPr>
          <a:xfrm>
            <a:off x="650000" y="1500000"/>
            <a:ext cx="5000000" cy="37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Untuk Client</a:t>
            </a:r>
          </a:p>
          <a:p>
            <a:r>
              <a:rPr lang="id-ID" sz="1500">
                <a:solidFill>
                  <a:srgbClr val="A8B9C2"/>
                </a:solidFill>
              </a:rPr>
              <a:t>1. Buka Client Portal.
2. Login atau registrasi kendaraan.
3. Lihat saldo dan slot real-time.
4. Booking slot kosong.
5. Gunakan chat support jika perlu.</a:t>
            </a:r>
          </a:p>
        </p:txBody>
      </p:sp>
      <p:sp>
        <p:nvSpPr>
          <p:cNvPr id="4" name="Card"/>
          <p:cNvSpPr/>
          <p:nvPr/>
        </p:nvSpPr>
        <p:spPr>
          <a:xfrm>
            <a:off x="6400000" y="1500000"/>
            <a:ext cx="5000000" cy="37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Untuk Admin</a:t>
            </a:r>
          </a:p>
          <a:p>
            <a:r>
              <a:rPr lang="id-ID" sz="1500">
                <a:solidFill>
                  <a:srgbClr val="A8B9C2"/>
                </a:solidFill>
              </a:rPr>
              <a:t>1. Login admin.
2. Lihat dashboard slot dan aktivitas.
3. Approve top-up atau tambah RFID.
4. Cek analytics dan history.
5. Gunakan gate control untuk palang.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60000" y="520000"/>
            <a:ext cx="9600000" cy="8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3400" b="1">
                <a:solidFill>
                  <a:srgbClr val="EEF7F4"/>
                </a:solidFill>
              </a:rPr>
              <a:t>Manfaat dan Kelebihan</a:t>
            </a:r>
          </a:p>
        </p:txBody>
      </p:sp>
      <p:sp>
        <p:nvSpPr>
          <p:cNvPr id="3" name="Card"/>
          <p:cNvSpPr/>
          <p:nvPr/>
        </p:nvSpPr>
        <p:spPr>
          <a:xfrm>
            <a:off x="700000" y="160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Efisien</a:t>
            </a:r>
          </a:p>
          <a:p>
            <a:r>
              <a:rPr lang="id-ID" sz="1500">
                <a:solidFill>
                  <a:srgbClr val="A8B9C2"/>
                </a:solidFill>
              </a:rPr>
              <a:t>Mengurangi waktu mencari parkir karena status slot terlihat.</a:t>
            </a:r>
          </a:p>
        </p:txBody>
      </p:sp>
      <p:sp>
        <p:nvSpPr>
          <p:cNvPr id="4" name="Card"/>
          <p:cNvSpPr/>
          <p:nvPr/>
        </p:nvSpPr>
        <p:spPr>
          <a:xfrm>
            <a:off x="3300000" y="160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Terdokumentasi</a:t>
            </a:r>
          </a:p>
          <a:p>
            <a:r>
              <a:rPr lang="id-ID" sz="1500">
                <a:solidFill>
                  <a:srgbClr val="A8B9C2"/>
                </a:solidFill>
              </a:rPr>
              <a:t>Masuk, keluar, booking, top-up, dan biaya tercatat otomatis.</a:t>
            </a:r>
          </a:p>
        </p:txBody>
      </p:sp>
      <p:sp>
        <p:nvSpPr>
          <p:cNvPr id="5" name="Card"/>
          <p:cNvSpPr/>
          <p:nvPr/>
        </p:nvSpPr>
        <p:spPr>
          <a:xfrm>
            <a:off x="5900000" y="160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Modern</a:t>
            </a:r>
          </a:p>
          <a:p>
            <a:r>
              <a:rPr lang="id-ID" sz="1500">
                <a:solidFill>
                  <a:srgbClr val="A8B9C2"/>
                </a:solidFill>
              </a:rPr>
              <a:t>Mendukung wallet, chat, voice notification, dan analytics.</a:t>
            </a:r>
          </a:p>
        </p:txBody>
      </p:sp>
      <p:sp>
        <p:nvSpPr>
          <p:cNvPr id="6" name="Card"/>
          <p:cNvSpPr/>
          <p:nvPr/>
        </p:nvSpPr>
        <p:spPr>
          <a:xfrm>
            <a:off x="8500000" y="1600000"/>
            <a:ext cx="2350000" cy="1500000"/>
          </a:xfrm>
          <a:prstGeom prst="roundRect">
            <a:avLst/>
          </a:prstGeom>
          <a:solidFill>
            <a:srgbClr val="13242E"/>
          </a:solidFill>
          <a:ln w="12700">
            <a:solidFill>
              <a:srgbClr val="34515E"/>
            </a:solidFill>
          </a:ln>
        </p:spPr>
        <p:txBody>
          <a:bodyPr lIns="190500" tIns="152400" rIns="190500" bIns="152400"/>
          <a:lstStyle/>
          <a:p>
            <a:r>
              <a:rPr lang="id-ID" sz="2200" b="1">
                <a:solidFill>
                  <a:srgbClr val="EEF7F4"/>
                </a:solidFill>
              </a:rPr>
              <a:t>Bisa Dikembangkan</a:t>
            </a:r>
          </a:p>
          <a:p>
            <a:r>
              <a:rPr lang="id-ID" sz="1500">
                <a:solidFill>
                  <a:srgbClr val="A8B9C2"/>
                </a:solidFill>
              </a:rPr>
              <a:t>Dapat ditambah banyak slot, QRIS asli, dan kamera plat nomor.</a:t>
            </a:r>
          </a:p>
        </p:txBody>
      </p:sp>
      <p:sp>
        <p:nvSpPr>
          <p:cNvPr id="7" name="Summary"/>
          <p:cNvSpPr/>
          <p:nvPr/>
        </p:nvSpPr>
        <p:spPr>
          <a:xfrm>
            <a:off x="1200000" y="4200000"/>
            <a:ext cx="9700000" cy="95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400" b="1">
                <a:solidFill>
                  <a:srgbClr val="35D0FF"/>
                </a:solidFill>
              </a:rPr>
              <a:t>SpotFinder memberi pengalaman parkir yang lebih jelas untuk pengguna dan data operasional yang lebih rapi untuk pengelola.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/>
          <p:nvPr/>
        </p:nvPicPr>
        <p:blipFill>
          <a:blip r:embed="rId1"/>
          <a:stretch>
            <a:fillRect/>
          </a:stretch>
        </p:blipFill>
        <p:spPr>
          <a:xfrm>
            <a:off x="5480000" y="850000"/>
            <a:ext cx="620000" cy="620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1200000" y="1750000"/>
            <a:ext cx="9800000" cy="19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4400" b="1">
                <a:solidFill>
                  <a:srgbClr val="EEF7F4"/>
                </a:solidFill>
              </a:rPr>
              <a:t>Parkir lebih pintar, data lebih rapi, pengalaman lebih cepat.</a:t>
            </a:r>
          </a:p>
        </p:txBody>
      </p:sp>
      <p:sp>
        <p:nvSpPr>
          <p:cNvPr id="4" name="Closing"/>
          <p:cNvSpPr/>
          <p:nvPr/>
        </p:nvSpPr>
        <p:spPr>
          <a:xfrm>
            <a:off x="2200000" y="3900000"/>
            <a:ext cx="7800000" cy="9000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200">
                <a:solidFill>
                  <a:srgbClr val="A8B9C2"/>
                </a:solidFill>
              </a:rPr>
              <a:t>SpotFinder membuktikan bahwa masalah parkir bisa diselesaikan dengan kombinasi web app, database, IoT, dan desain penggunaan yang jelas.</a:t>
            </a:r>
          </a:p>
        </p:txBody>
      </p:sp>
      <p:sp>
        <p:nvSpPr>
          <p:cNvPr id="5" name="Thanks"/>
          <p:cNvSpPr/>
          <p:nvPr/>
        </p:nvSpPr>
        <p:spPr>
          <a:xfrm>
            <a:off x="4750000" y="5350000"/>
            <a:ext cx="2600000" cy="520000"/>
          </a:xfrm>
          <a:prstGeom prst="rect">
            <a:avLst/>
          </a:prstGeom>
          <a:solidFill>
            <a:srgbClr val="77E08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anchor="mid"/>
          <a:lstStyle/>
          <a:p>
            <a:r>
              <a:rPr lang="id-ID" sz="2400" b="1">
                <a:solidFill>
                  <a:srgbClr val="071016"/>
                </a:solidFill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otFinder">
  <a:themeElements>
    <a:clrScheme name="SpotFinder">
      <a:dk1>
        <a:srgbClr val="071016"/>
      </a:dk1>
      <a:lt1>
        <a:srgbClr val="EEF7F4"/>
      </a:lt1>
      <a:dk2>
        <a:srgbClr val="13242E"/>
      </a:dk2>
      <a:lt2>
        <a:srgbClr val="A8B9C2"/>
      </a:lt2>
      <a:accent1>
        <a:srgbClr val="35D0FF"/>
      </a:accent1>
      <a:accent2>
        <a:srgbClr val="77E08F"/>
      </a:accent2>
      <a:accent3>
        <a:srgbClr val="F7C948"/>
      </a:accent3>
      <a:accent4>
        <a:srgbClr val="FF7A7A"/>
      </a:accent4>
      <a:accent5>
        <a:srgbClr val="6EA8FE"/>
      </a:accent5>
      <a:accent6>
        <a:srgbClr val="B38CFF"/>
      </a:accent6>
      <a:hlink>
        <a:srgbClr val="35D0FF"/>
      </a:hlink>
      <a:folHlink>
        <a:srgbClr val="77E08F"/>
      </a:folHlink>
    </a:clrScheme>
    <a:fontScheme name="SpotFinder">
      <a:majorFont>
        <a:latin typeface="Aptos Display"/>
      </a:majorFont>
      <a:minorFont>
        <a:latin typeface="Aptos"/>
      </a:minorFont>
    </a:fontScheme>
    <a:fmtScheme name="SpotFind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